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sldIdLst>
    <p:sldId id="257" r:id="rId2"/>
    <p:sldId id="256" r:id="rId3"/>
    <p:sldId id="260" r:id="rId4"/>
    <p:sldId id="261" r:id="rId5"/>
    <p:sldId id="262" r:id="rId6"/>
    <p:sldId id="258" r:id="rId7"/>
    <p:sldId id="259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1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3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CB2939-EF81-4A1D-88EF-1F914C71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1757664"/>
            <a:ext cx="8640000" cy="1468800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83C1D55-BE30-4913-97C9-8A4B5805F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C907F19-5F58-4B00-A2D6-15BE9E68FA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20000" y="3060000"/>
            <a:ext cx="8640000" cy="2232000"/>
          </a:xfrm>
        </p:spPr>
        <p:txBody>
          <a:bodyPr anchor="t"/>
          <a:lstStyle>
            <a:lvl1pPr marL="72000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0239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28452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CD8CB388-72B4-45F4-9CEE-02D7C0DDD5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09696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6A0032-55EC-45BB-8CD4-D2176F66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C1806A5-B5F0-47EE-A693-48769535E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Tijdelijke aanduiding voor afbeelding 5">
            <a:extLst>
              <a:ext uri="{FF2B5EF4-FFF2-40B4-BE49-F238E27FC236}">
                <a16:creationId xmlns:a16="http://schemas.microsoft.com/office/drawing/2014/main" id="{CC0BC91D-39B5-4E20-9599-C294C368A5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20000" y="4838400"/>
            <a:ext cx="8280000" cy="18684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69DEDFC-133F-4A96-9D59-88BAC6BE1F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7158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Ho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8024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-0.2724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0.00052 -0.13055 " pathEditMode="relative" rAng="0" ptsTypes="AA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9653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158E6-BFE0-4EF2-A193-3C0085BF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731D3A-6054-4511-A2E9-E2D6A36E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437AADF-02E6-4E61-8A90-A43F22763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8684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8EBA5D4-36D4-40AE-B410-C7D5B25328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01218"/>
            <a:ext cx="12192000" cy="2456781"/>
          </a:xfrm>
          <a:solidFill>
            <a:schemeClr val="tx1">
              <a:alpha val="75000"/>
            </a:schemeClr>
          </a:solidFill>
        </p:spPr>
        <p:txBody>
          <a:bodyPr lIns="2628000" anchor="ctr" anchorCtr="0"/>
          <a:lstStyle>
            <a:lvl1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  <a:lvl2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2pPr>
            <a:lvl3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3pPr>
            <a:lvl4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4pPr>
            <a:lvl5pPr>
              <a:defRPr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8323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33333E-6 L -3.95833E-6 -0.2724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63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0.00052 -0.1305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35556 " pathEditMode="fixed" rAng="0" ptsTypes="AA">
                                      <p:cBhvr>
                                        <p:cTn id="20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5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0.00052 -0.13055 " pathEditMode="relative" rAng="0" ptsTypes="AA">
                      <p:cBhvr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9653"/>
                    </p:animMotion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1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2" presetClass="path" presetSubtype="0" fill="hold" nodeType="withEffect">
                  <p:stCondLst>
                    <p:cond delay="0"/>
                  </p:stCondLst>
                  <p:childTnLst>
                    <p:animMotion origin="layout" path="M 0 -3.33333E-6 L 0 0.35556 " pathEditMode="fixed" rAng="0" ptsTypes="AA">
                      <p:cBhvr>
                        <p:cTn dur="500" spd="-100000" fill="hold"/>
                        <p:tgtEl>
                          <p:spTgt spid="7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778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F798E-336A-47E3-AC2C-AB380B37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F0E6AA1-4568-4472-8FFD-399DA7B82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126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4A022AE-6BF3-4A6D-B0DD-4AAA8BCE4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261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gin/Ei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099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2520000" y="2664846"/>
            <a:ext cx="8280000" cy="1143000"/>
          </a:xfrm>
          <a:prstGeom prst="rect">
            <a:avLst/>
          </a:prstGeom>
        </p:spPr>
        <p:txBody>
          <a:bodyPr vert="horz" lIns="81000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  <a:endParaRPr lang="en-GB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2520000" y="2970000"/>
            <a:ext cx="8280000" cy="1868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Met cijfer</a:t>
            </a:r>
          </a:p>
          <a:p>
            <a:pPr lvl="2"/>
            <a:r>
              <a:rPr lang="nl-NL" dirty="0"/>
              <a:t>Tweede</a:t>
            </a:r>
          </a:p>
          <a:p>
            <a:pPr lvl="3"/>
            <a:r>
              <a:rPr lang="nl-NL" dirty="0"/>
              <a:t>Met cijfer</a:t>
            </a:r>
          </a:p>
          <a:p>
            <a:pPr lvl="4"/>
            <a:r>
              <a:rPr lang="nl-NL" dirty="0"/>
              <a:t>Derde met cijfer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164824" y="197127"/>
            <a:ext cx="821499" cy="516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i="1">
                <a:solidFill>
                  <a:schemeClr val="tx1">
                    <a:tint val="75000"/>
                  </a:schemeClr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fld id="{B997E103-4C36-4B76-B945-430795A6F2D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731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  <p:sldLayoutId id="2147483667" r:id="rId5"/>
    <p:sldLayoutId id="2147483669" r:id="rId6"/>
    <p:sldLayoutId id="2147483668" r:id="rId7"/>
    <p:sldLayoutId id="2147483663" r:id="rId8"/>
    <p:sldLayoutId id="2147483664" r:id="rId9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0.00052 -0.1416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0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6227 L -3.95833E-6 -2.96296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>
        <p:tmplLst>
          <p:tmpl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64" presetClass="path" presetSubtype="0" decel="50000" fill="hold" nodeType="withEffect">
                  <p:stCondLst>
                    <p:cond delay="0"/>
                  </p:stCondLst>
                  <p:childTnLst>
                    <p:animMotion origin="layout" path="M -0.00052 0.06227 L -3.95833E-6 -2.96296E-6 " pathEditMode="relative" rAng="0" ptsTypes="AA">
                      <p:cBhvr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26" y="-3125"/>
                    </p:animMotion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385763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Segoe UI Light" panose="020B0502040204020203" pitchFamily="34" charset="0"/>
        </a:defRPr>
      </a:lvl1pPr>
    </p:titleStyle>
    <p:bodyStyle>
      <a:lvl1pPr marL="720000" indent="0" algn="l" defTabSz="180000" rtl="0" eaLnBrk="1" latinLnBrk="0" hangingPunct="1">
        <a:spcBef>
          <a:spcPct val="20000"/>
        </a:spcBef>
        <a:buFont typeface="Arial" panose="020B0604020202020204" pitchFamily="34" charset="0"/>
        <a:buNone/>
        <a:tabLst>
          <a:tab pos="180000" algn="l"/>
        </a:tabLst>
        <a:defRPr sz="21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1pPr>
      <a:lvl2pPr marL="72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2pPr>
      <a:lvl3pPr marL="1080000" indent="0" algn="l" defTabSz="180000" rtl="0" eaLnBrk="1" latinLnBrk="0" hangingPunct="1"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3pPr>
      <a:lvl4pPr marL="108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4pPr>
      <a:lvl5pPr marL="1260000" indent="-360000" algn="l" defTabSz="1800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Segoe UI Semilight" panose="020B0402040204020203" pitchFamily="34" charset="0"/>
        </a:defRPr>
      </a:lvl5pPr>
      <a:lvl6pPr marL="1060847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spcBef>
          <a:spcPct val="20000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01">
          <p15:clr>
            <a:srgbClr val="F26B43"/>
          </p15:clr>
        </p15:guide>
        <p15:guide id="2" pos="279">
          <p15:clr>
            <a:srgbClr val="F26B43"/>
          </p15:clr>
        </p15:guide>
        <p15:guide id="3" pos="937">
          <p15:clr>
            <a:srgbClr val="F26B43"/>
          </p15:clr>
        </p15:guide>
        <p15:guide id="4" pos="67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gorochu/complete-imdb-movies-datas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97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586FAF-D74F-4D18-9490-2BBD941D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API design and </a:t>
            </a:r>
            <a:r>
              <a:rPr lang="nl-NL" dirty="0" err="1"/>
              <a:t>specification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2B2B5CB-3E78-49AA-BB23-FF22A2CD6B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make </a:t>
            </a:r>
            <a:r>
              <a:rPr lang="nl-NL" dirty="0" err="1"/>
              <a:t>choices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regret</a:t>
            </a:r>
            <a:r>
              <a:rPr lang="nl-NL" dirty="0"/>
              <a:t> down the line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Web Engineering 21/22</a:t>
            </a:r>
            <a:br>
              <a:rPr lang="nl-NL" dirty="0"/>
            </a:br>
            <a:r>
              <a:rPr lang="nl-NL" dirty="0"/>
              <a:t>Floris Westerman</a:t>
            </a:r>
          </a:p>
        </p:txBody>
      </p:sp>
    </p:spTree>
    <p:extLst>
      <p:ext uri="{BB962C8B-B14F-4D97-AF65-F5344CB8AC3E}">
        <p14:creationId xmlns:p14="http://schemas.microsoft.com/office/powerpoint/2010/main" val="211909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682CC7-ABD0-4B2F-A7E6-AB58D166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Tutorial Series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A696072-4ABC-43FE-BE1A-D3989EE673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2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337947B-5E17-4B16-A02D-4BDE5DC183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2439618"/>
          </a:xfrm>
        </p:spPr>
        <p:txBody>
          <a:bodyPr>
            <a:normAutofit/>
          </a:bodyPr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TAs</a:t>
            </a:r>
            <a:r>
              <a:rPr lang="nl-NL" dirty="0"/>
              <a:t> and </a:t>
            </a:r>
            <a:r>
              <a:rPr lang="nl-NL" dirty="0" err="1"/>
              <a:t>students</a:t>
            </a:r>
            <a:endParaRPr lang="nl-NL" dirty="0"/>
          </a:p>
          <a:p>
            <a:r>
              <a:rPr lang="nl-NL" dirty="0"/>
              <a:t>Single consistent </a:t>
            </a:r>
            <a:r>
              <a:rPr lang="nl-NL" dirty="0" err="1"/>
              <a:t>example</a:t>
            </a:r>
            <a:r>
              <a:rPr lang="nl-NL" dirty="0"/>
              <a:t> app</a:t>
            </a:r>
          </a:p>
          <a:p>
            <a:r>
              <a:rPr lang="nl-NL" dirty="0" err="1"/>
              <a:t>Conceptual</a:t>
            </a:r>
            <a:r>
              <a:rPr lang="nl-NL" dirty="0"/>
              <a:t> </a:t>
            </a:r>
            <a:r>
              <a:rPr lang="nl-NL" dirty="0" err="1"/>
              <a:t>fundamentals</a:t>
            </a:r>
            <a:endParaRPr lang="nl-NL" dirty="0"/>
          </a:p>
          <a:p>
            <a:r>
              <a:rPr lang="nl-NL" dirty="0"/>
              <a:t>Modern </a:t>
            </a:r>
            <a:r>
              <a:rPr lang="nl-NL" dirty="0" err="1"/>
              <a:t>frameworks</a:t>
            </a:r>
            <a:endParaRPr lang="nl-NL" dirty="0"/>
          </a:p>
          <a:p>
            <a:r>
              <a:rPr lang="nl-NL" dirty="0"/>
              <a:t>API design; </a:t>
            </a:r>
            <a:r>
              <a:rPr lang="nl-NL" dirty="0" err="1"/>
              <a:t>back-end</a:t>
            </a:r>
            <a:r>
              <a:rPr lang="nl-NL" dirty="0"/>
              <a:t>; front-end; </a:t>
            </a:r>
            <a:r>
              <a:rPr lang="nl-NL" dirty="0" err="1"/>
              <a:t>deployment</a:t>
            </a:r>
            <a:endParaRPr lang="nl-NL" dirty="0"/>
          </a:p>
          <a:p>
            <a:r>
              <a:rPr lang="nl-NL" dirty="0"/>
              <a:t>Live </a:t>
            </a:r>
            <a:r>
              <a:rPr lang="nl-NL" dirty="0" err="1"/>
              <a:t>coding</a:t>
            </a:r>
            <a:r>
              <a:rPr lang="nl-NL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3678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D3D0F1-12AE-4464-9CDE-7CBAE67F0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 App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A3BB3F8-CF80-4C3B-AD80-B59E4A735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3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9B4D319-F125-4779-A5EE-6A35FBBE0A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nl-NL" dirty="0"/>
              <a:t>Movies database</a:t>
            </a:r>
          </a:p>
          <a:p>
            <a:r>
              <a:rPr lang="nl-NL" dirty="0" err="1"/>
              <a:t>Simplified</a:t>
            </a:r>
            <a:r>
              <a:rPr lang="nl-NL" dirty="0"/>
              <a:t> last </a:t>
            </a:r>
            <a:r>
              <a:rPr lang="nl-NL" dirty="0" err="1"/>
              <a:t>year’s</a:t>
            </a:r>
            <a:r>
              <a:rPr lang="nl-NL" dirty="0"/>
              <a:t> project</a:t>
            </a:r>
          </a:p>
          <a:p>
            <a:r>
              <a:rPr lang="nl-NL" dirty="0" err="1"/>
              <a:t>Similar</a:t>
            </a:r>
            <a:r>
              <a:rPr lang="nl-NL" dirty="0"/>
              <a:t> </a:t>
            </a:r>
            <a:r>
              <a:rPr lang="nl-NL" dirty="0" err="1"/>
              <a:t>requirements</a:t>
            </a:r>
            <a:endParaRPr lang="nl-NL" dirty="0"/>
          </a:p>
          <a:p>
            <a:r>
              <a:rPr lang="nl-NL" dirty="0"/>
              <a:t>Dataset on </a:t>
            </a:r>
            <a:r>
              <a:rPr lang="nl-NL" dirty="0" err="1"/>
              <a:t>Kaggle</a:t>
            </a:r>
            <a:r>
              <a:rPr lang="nl-NL" dirty="0"/>
              <a:t>: </a:t>
            </a:r>
            <a:r>
              <a:rPr lang="nl-NL" sz="1400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https://www.kaggle.com/gorochu/complete-imdb-movies-dataset</a:t>
            </a:r>
            <a:endParaRPr lang="nl-NL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75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45855-46F1-4F4C-A0B2-FFC02A4BA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API </a:t>
            </a:r>
            <a:r>
              <a:rPr lang="nl-NL" dirty="0" err="1"/>
              <a:t>Requirements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F89C6D7-6601-4A88-92D5-461B6DEE1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4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AA735D4-DB6C-417A-86BB-E748D564D0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69999"/>
            <a:ext cx="8280000" cy="2858427"/>
          </a:xfrm>
        </p:spPr>
        <p:txBody>
          <a:bodyPr/>
          <a:lstStyle/>
          <a:p>
            <a:r>
              <a:rPr lang="nl-NL" dirty="0"/>
              <a:t>List </a:t>
            </a:r>
            <a:r>
              <a:rPr lang="nl-NL" dirty="0" err="1"/>
              <a:t>all</a:t>
            </a:r>
            <a:r>
              <a:rPr lang="nl-NL" dirty="0"/>
              <a:t> actors</a:t>
            </a:r>
          </a:p>
          <a:p>
            <a:r>
              <a:rPr lang="nl-NL" dirty="0"/>
              <a:t>List </a:t>
            </a:r>
            <a:r>
              <a:rPr lang="nl-NL" dirty="0" err="1"/>
              <a:t>all</a:t>
            </a:r>
            <a:r>
              <a:rPr lang="nl-NL" dirty="0"/>
              <a:t> information </a:t>
            </a:r>
            <a:r>
              <a:rPr lang="nl-NL" dirty="0" err="1"/>
              <a:t>about</a:t>
            </a:r>
            <a:r>
              <a:rPr lang="nl-NL" dirty="0"/>
              <a:t> a </a:t>
            </a:r>
            <a:r>
              <a:rPr lang="nl-NL" dirty="0" err="1"/>
              <a:t>specific</a:t>
            </a:r>
            <a:r>
              <a:rPr lang="nl-NL" dirty="0"/>
              <a:t> movie</a:t>
            </a:r>
          </a:p>
          <a:p>
            <a:r>
              <a:rPr lang="nl-NL" dirty="0"/>
              <a:t>List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movies</a:t>
            </a:r>
            <a:r>
              <a:rPr lang="nl-NL" dirty="0"/>
              <a:t> </a:t>
            </a:r>
            <a:r>
              <a:rPr lang="nl-NL" dirty="0" err="1"/>
              <a:t>featuring</a:t>
            </a:r>
            <a:r>
              <a:rPr lang="nl-NL" dirty="0"/>
              <a:t> a </a:t>
            </a:r>
            <a:r>
              <a:rPr lang="nl-NL" dirty="0" err="1"/>
              <a:t>specific</a:t>
            </a:r>
            <a:r>
              <a:rPr lang="nl-NL" dirty="0"/>
              <a:t> actor</a:t>
            </a:r>
          </a:p>
          <a:p>
            <a:r>
              <a:rPr lang="nl-NL" dirty="0"/>
              <a:t>List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movies</a:t>
            </a:r>
            <a:r>
              <a:rPr lang="nl-NL" dirty="0"/>
              <a:t> in a </a:t>
            </a:r>
            <a:r>
              <a:rPr lang="nl-NL" dirty="0" err="1"/>
              <a:t>specific</a:t>
            </a:r>
            <a:r>
              <a:rPr lang="nl-NL" dirty="0"/>
              <a:t> </a:t>
            </a:r>
            <a:r>
              <a:rPr lang="nl-NL" dirty="0" err="1"/>
              <a:t>year</a:t>
            </a:r>
            <a:endParaRPr lang="nl-NL" dirty="0"/>
          </a:p>
          <a:p>
            <a:r>
              <a:rPr lang="nl-NL" dirty="0"/>
              <a:t>Search for </a:t>
            </a:r>
            <a:r>
              <a:rPr lang="nl-NL" dirty="0" err="1"/>
              <a:t>movies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name</a:t>
            </a:r>
          </a:p>
          <a:p>
            <a:r>
              <a:rPr lang="nl-NL" dirty="0" err="1"/>
              <a:t>Create</a:t>
            </a:r>
            <a:r>
              <a:rPr lang="nl-NL" dirty="0"/>
              <a:t>, update, and delete </a:t>
            </a:r>
            <a:r>
              <a:rPr lang="nl-NL" dirty="0" err="1"/>
              <a:t>movies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366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59986-58A3-4918-9C81-BCA0574A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REST </a:t>
            </a:r>
            <a:r>
              <a:rPr lang="nl-NL" dirty="0" err="1"/>
              <a:t>Recap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59916A8-E9F9-4F1D-94B5-DAE5B509C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5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66B5AA0-8572-4BB6-B54B-B778E0E0E9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Resource-</a:t>
            </a:r>
            <a:r>
              <a:rPr lang="nl-NL" dirty="0" err="1"/>
              <a:t>oriented</a:t>
            </a:r>
            <a:endParaRPr lang="nl-NL" dirty="0"/>
          </a:p>
          <a:p>
            <a:r>
              <a:rPr lang="nl-NL" dirty="0" err="1"/>
              <a:t>Stateless</a:t>
            </a:r>
            <a:r>
              <a:rPr lang="nl-NL" dirty="0"/>
              <a:t>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possible</a:t>
            </a:r>
            <a:endParaRPr lang="nl-NL" dirty="0"/>
          </a:p>
          <a:p>
            <a:r>
              <a:rPr lang="nl-NL" dirty="0"/>
              <a:t>Fit to HTTP</a:t>
            </a:r>
          </a:p>
        </p:txBody>
      </p:sp>
    </p:spTree>
    <p:extLst>
      <p:ext uri="{BB962C8B-B14F-4D97-AF65-F5344CB8AC3E}">
        <p14:creationId xmlns:p14="http://schemas.microsoft.com/office/powerpoint/2010/main" val="413615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CD80E6-FDC2-426D-8D12-5F0CD706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HTTP </a:t>
            </a:r>
            <a:r>
              <a:rPr lang="nl-NL" dirty="0" err="1"/>
              <a:t>Verbs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4843F45-4F9D-4A1C-A62E-D457D985D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6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6F09826-383A-4E8A-9473-043A84BC1A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2174373"/>
          </a:xfrm>
        </p:spPr>
        <p:txBody>
          <a:bodyPr/>
          <a:lstStyle/>
          <a:p>
            <a:r>
              <a:rPr lang="nl-NL" dirty="0"/>
              <a:t>GET</a:t>
            </a:r>
          </a:p>
          <a:p>
            <a:r>
              <a:rPr lang="nl-NL" dirty="0"/>
              <a:t>DELETE</a:t>
            </a:r>
          </a:p>
          <a:p>
            <a:r>
              <a:rPr lang="nl-NL" dirty="0"/>
              <a:t>POST</a:t>
            </a:r>
          </a:p>
          <a:p>
            <a:r>
              <a:rPr lang="nl-NL" dirty="0"/>
              <a:t>PUT?</a:t>
            </a:r>
          </a:p>
          <a:p>
            <a:r>
              <a:rPr lang="nl-NL" dirty="0"/>
              <a:t>PATCH?</a:t>
            </a:r>
          </a:p>
        </p:txBody>
      </p:sp>
    </p:spTree>
    <p:extLst>
      <p:ext uri="{BB962C8B-B14F-4D97-AF65-F5344CB8AC3E}">
        <p14:creationId xmlns:p14="http://schemas.microsoft.com/office/powerpoint/2010/main" val="254593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D2361C-93F6-442F-8D2F-99099CAA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Approach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0299A93-9780-40B0-A1AB-EEB9ADB99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7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F004CC1-EAFB-40F3-901C-E3D7EB06C3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650862"/>
          </a:xfrm>
        </p:spPr>
        <p:txBody>
          <a:bodyPr/>
          <a:lstStyle/>
          <a:p>
            <a:pPr marL="719138" indent="-457200">
              <a:buFont typeface="+mj-lt"/>
              <a:buAutoNum type="arabicPeriod"/>
            </a:pPr>
            <a:r>
              <a:rPr lang="nl-NL" dirty="0" err="1"/>
              <a:t>Investigate</a:t>
            </a:r>
            <a:r>
              <a:rPr lang="nl-NL" dirty="0"/>
              <a:t> data set</a:t>
            </a:r>
          </a:p>
          <a:p>
            <a:pPr marL="719138" indent="-457200">
              <a:buFont typeface="+mj-lt"/>
              <a:buAutoNum type="arabicPeriod"/>
            </a:pPr>
            <a:r>
              <a:rPr lang="nl-NL" dirty="0"/>
              <a:t>Design API </a:t>
            </a:r>
            <a:r>
              <a:rPr lang="nl-NL" dirty="0" err="1"/>
              <a:t>models</a:t>
            </a:r>
            <a:endParaRPr lang="nl-NL" dirty="0"/>
          </a:p>
          <a:p>
            <a:pPr marL="719138" indent="-457200">
              <a:buFont typeface="+mj-lt"/>
              <a:buAutoNum type="arabicPeriod"/>
            </a:pPr>
            <a:r>
              <a:rPr lang="nl-NL" dirty="0"/>
              <a:t>Design API </a:t>
            </a:r>
            <a:r>
              <a:rPr lang="nl-NL" dirty="0" err="1"/>
              <a:t>endpoints</a:t>
            </a:r>
            <a:endParaRPr lang="nl-NL" dirty="0"/>
          </a:p>
          <a:p>
            <a:pPr marL="719138" indent="-457200">
              <a:buFont typeface="+mj-lt"/>
              <a:buAutoNum type="arabicPeriod"/>
            </a:pPr>
            <a:r>
              <a:rPr lang="nl-NL" dirty="0" err="1"/>
              <a:t>Flesh</a:t>
            </a:r>
            <a:r>
              <a:rPr lang="nl-NL" dirty="0"/>
              <a:t> out model</a:t>
            </a:r>
          </a:p>
        </p:txBody>
      </p:sp>
    </p:spTree>
    <p:extLst>
      <p:ext uri="{BB962C8B-B14F-4D97-AF65-F5344CB8AC3E}">
        <p14:creationId xmlns:p14="http://schemas.microsoft.com/office/powerpoint/2010/main" val="391988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4" grpId="1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355812E-9801-4B19-9F1B-74164E440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8</a:t>
            </a:fld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A36A728-1E25-4822-941E-D810B2465B8C}"/>
              </a:ext>
            </a:extLst>
          </p:cNvPr>
          <p:cNvSpPr/>
          <p:nvPr/>
        </p:nvSpPr>
        <p:spPr>
          <a:xfrm>
            <a:off x="1575250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Title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E5E204C7-A1B3-4298-B879-83FC5D89C081}"/>
              </a:ext>
            </a:extLst>
          </p:cNvPr>
          <p:cNvSpPr/>
          <p:nvPr/>
        </p:nvSpPr>
        <p:spPr>
          <a:xfrm>
            <a:off x="3887109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Rating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A115FE8D-AEDA-4B16-B3F6-471334776642}"/>
              </a:ext>
            </a:extLst>
          </p:cNvPr>
          <p:cNvSpPr/>
          <p:nvPr/>
        </p:nvSpPr>
        <p:spPr>
          <a:xfrm>
            <a:off x="1575249" y="2621493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Year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65324771-3650-42A2-965C-F027F875091E}"/>
              </a:ext>
            </a:extLst>
          </p:cNvPr>
          <p:cNvSpPr/>
          <p:nvPr/>
        </p:nvSpPr>
        <p:spPr>
          <a:xfrm>
            <a:off x="6198967" y="2630215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User Rating</a:t>
            </a:r>
          </a:p>
          <a:p>
            <a:pPr algn="ctr"/>
            <a:r>
              <a:rPr lang="nl-NL" sz="1200" dirty="0" err="1">
                <a:solidFill>
                  <a:schemeClr val="tx1"/>
                </a:solidFill>
              </a:rPr>
              <a:t>float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DBB381E2-960C-413F-86FA-5B476EB37FDA}"/>
              </a:ext>
            </a:extLst>
          </p:cNvPr>
          <p:cNvSpPr/>
          <p:nvPr/>
        </p:nvSpPr>
        <p:spPr>
          <a:xfrm>
            <a:off x="6209288" y="1492269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Votes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9AEBD0E-4B50-49AE-938B-C63D4F2CBEDF}"/>
              </a:ext>
            </a:extLst>
          </p:cNvPr>
          <p:cNvSpPr/>
          <p:nvPr/>
        </p:nvSpPr>
        <p:spPr>
          <a:xfrm>
            <a:off x="6209288" y="3763423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Metascore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12265623-5F9E-4EC5-A9E5-5880E75B142D}"/>
              </a:ext>
            </a:extLst>
          </p:cNvPr>
          <p:cNvSpPr/>
          <p:nvPr/>
        </p:nvSpPr>
        <p:spPr>
          <a:xfrm>
            <a:off x="8521147" y="1491203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Image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7946C6A3-1035-48EC-9419-65128E467228}"/>
              </a:ext>
            </a:extLst>
          </p:cNvPr>
          <p:cNvSpPr/>
          <p:nvPr/>
        </p:nvSpPr>
        <p:spPr>
          <a:xfrm>
            <a:off x="8510827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Countries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[string]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C066104F-DEBC-4E23-8FDD-C349366B170F}"/>
              </a:ext>
            </a:extLst>
          </p:cNvPr>
          <p:cNvSpPr/>
          <p:nvPr/>
        </p:nvSpPr>
        <p:spPr>
          <a:xfrm>
            <a:off x="1575250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Languages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[string]</a:t>
            </a:r>
          </a:p>
        </p:txBody>
      </p:sp>
      <p:sp>
        <p:nvSpPr>
          <p:cNvPr id="22" name="!!Actors">
            <a:extLst>
              <a:ext uri="{FF2B5EF4-FFF2-40B4-BE49-F238E27FC236}">
                <a16:creationId xmlns:a16="http://schemas.microsoft.com/office/drawing/2014/main" id="{6E61D8BE-A765-4723-9FD9-ED589E611F3A}"/>
              </a:ext>
            </a:extLst>
          </p:cNvPr>
          <p:cNvSpPr/>
          <p:nvPr/>
        </p:nvSpPr>
        <p:spPr>
          <a:xfrm>
            <a:off x="3887109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Actors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[string]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361039A5-9DDB-4A06-9005-75B149D789F0}"/>
              </a:ext>
            </a:extLst>
          </p:cNvPr>
          <p:cNvSpPr/>
          <p:nvPr/>
        </p:nvSpPr>
        <p:spPr>
          <a:xfrm>
            <a:off x="3887108" y="4898242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Genre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[string]</a:t>
            </a:r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EA590BA4-D3EC-46CB-A9AD-3D6595836B27}"/>
              </a:ext>
            </a:extLst>
          </p:cNvPr>
          <p:cNvSpPr/>
          <p:nvPr/>
        </p:nvSpPr>
        <p:spPr>
          <a:xfrm>
            <a:off x="8510827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Tagline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8D3BEF5D-06ED-4027-B24A-74A487F2618F}"/>
              </a:ext>
            </a:extLst>
          </p:cNvPr>
          <p:cNvSpPr/>
          <p:nvPr/>
        </p:nvSpPr>
        <p:spPr>
          <a:xfrm>
            <a:off x="3897429" y="2630215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Description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1DF37B86-BEDE-46DA-856D-2A6C3347BE20}"/>
              </a:ext>
            </a:extLst>
          </p:cNvPr>
          <p:cNvSpPr/>
          <p:nvPr/>
        </p:nvSpPr>
        <p:spPr>
          <a:xfrm>
            <a:off x="8521147" y="491533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Directors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[string]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2AC43724-4F1B-4190-B84A-3D9DA518508A}"/>
              </a:ext>
            </a:extLst>
          </p:cNvPr>
          <p:cNvSpPr/>
          <p:nvPr/>
        </p:nvSpPr>
        <p:spPr>
          <a:xfrm>
            <a:off x="6198968" y="4902035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2DFFC161-C7E4-4BC8-9E1C-A6F2069A167F}"/>
              </a:ext>
            </a:extLst>
          </p:cNvPr>
          <p:cNvSpPr/>
          <p:nvPr/>
        </p:nvSpPr>
        <p:spPr>
          <a:xfrm>
            <a:off x="1564930" y="4898242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IMDb</a:t>
            </a:r>
            <a:r>
              <a:rPr lang="nl-NL" dirty="0">
                <a:solidFill>
                  <a:schemeClr val="tx1"/>
                </a:solidFill>
              </a:rPr>
              <a:t> URL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59C68DCF-D1B8-42A8-B840-7D9DA24D8F48}"/>
              </a:ext>
            </a:extLst>
          </p:cNvPr>
          <p:cNvSpPr/>
          <p:nvPr/>
        </p:nvSpPr>
        <p:spPr>
          <a:xfrm>
            <a:off x="1369314" y="790996"/>
            <a:ext cx="9474013" cy="5276007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Movie</a:t>
            </a:r>
            <a:endParaRPr lang="nl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56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21" grpId="0" animBg="1"/>
      <p:bldP spid="22" grpId="0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355812E-9801-4B19-9F1B-74164E440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9</a:t>
            </a:fld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A36A728-1E25-4822-941E-D810B2465B8C}"/>
              </a:ext>
            </a:extLst>
          </p:cNvPr>
          <p:cNvSpPr/>
          <p:nvPr/>
        </p:nvSpPr>
        <p:spPr>
          <a:xfrm>
            <a:off x="1191528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Title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E5E204C7-A1B3-4298-B879-83FC5D89C081}"/>
              </a:ext>
            </a:extLst>
          </p:cNvPr>
          <p:cNvSpPr/>
          <p:nvPr/>
        </p:nvSpPr>
        <p:spPr>
          <a:xfrm>
            <a:off x="3503387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Rating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A115FE8D-AEDA-4B16-B3F6-471334776642}"/>
              </a:ext>
            </a:extLst>
          </p:cNvPr>
          <p:cNvSpPr/>
          <p:nvPr/>
        </p:nvSpPr>
        <p:spPr>
          <a:xfrm>
            <a:off x="1191525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Year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65324771-3650-42A2-965C-F027F875091E}"/>
              </a:ext>
            </a:extLst>
          </p:cNvPr>
          <p:cNvSpPr/>
          <p:nvPr/>
        </p:nvSpPr>
        <p:spPr>
          <a:xfrm>
            <a:off x="5815245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User Rating</a:t>
            </a:r>
          </a:p>
          <a:p>
            <a:pPr algn="ctr"/>
            <a:r>
              <a:rPr lang="nl-NL" sz="1200" dirty="0" err="1">
                <a:solidFill>
                  <a:schemeClr val="tx1"/>
                </a:solidFill>
              </a:rPr>
              <a:t>float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DBB381E2-960C-413F-86FA-5B476EB37FDA}"/>
              </a:ext>
            </a:extLst>
          </p:cNvPr>
          <p:cNvSpPr/>
          <p:nvPr/>
        </p:nvSpPr>
        <p:spPr>
          <a:xfrm>
            <a:off x="5815245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Votes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9AEBD0E-4B50-49AE-938B-C63D4F2CBEDF}"/>
              </a:ext>
            </a:extLst>
          </p:cNvPr>
          <p:cNvSpPr/>
          <p:nvPr/>
        </p:nvSpPr>
        <p:spPr>
          <a:xfrm>
            <a:off x="5809343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Metascore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C066104F-DEBC-4E23-8FDD-C349366B170F}"/>
              </a:ext>
            </a:extLst>
          </p:cNvPr>
          <p:cNvSpPr/>
          <p:nvPr/>
        </p:nvSpPr>
        <p:spPr>
          <a:xfrm>
            <a:off x="1191528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Languages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[string]</a:t>
            </a: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6E61D8BE-A765-4723-9FD9-ED589E611F3A}"/>
              </a:ext>
            </a:extLst>
          </p:cNvPr>
          <p:cNvSpPr/>
          <p:nvPr/>
        </p:nvSpPr>
        <p:spPr>
          <a:xfrm>
            <a:off x="3503387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Actors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[Actor]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8D3BEF5D-06ED-4027-B24A-74A487F2618F}"/>
              </a:ext>
            </a:extLst>
          </p:cNvPr>
          <p:cNvSpPr/>
          <p:nvPr/>
        </p:nvSpPr>
        <p:spPr>
          <a:xfrm>
            <a:off x="3503387" y="2625286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Description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2DFFC161-C7E4-4BC8-9E1C-A6F2069A167F}"/>
              </a:ext>
            </a:extLst>
          </p:cNvPr>
          <p:cNvSpPr/>
          <p:nvPr/>
        </p:nvSpPr>
        <p:spPr>
          <a:xfrm>
            <a:off x="1191526" y="4902034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IMDb</a:t>
            </a:r>
            <a:r>
              <a:rPr lang="nl-NL" dirty="0">
                <a:solidFill>
                  <a:schemeClr val="tx1"/>
                </a:solidFill>
              </a:rPr>
              <a:t> URL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59C68DCF-D1B8-42A8-B840-7D9DA24D8F48}"/>
              </a:ext>
            </a:extLst>
          </p:cNvPr>
          <p:cNvSpPr/>
          <p:nvPr/>
        </p:nvSpPr>
        <p:spPr>
          <a:xfrm>
            <a:off x="985592" y="790996"/>
            <a:ext cx="7129707" cy="5276007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Movie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0" name="!!Actors">
            <a:extLst>
              <a:ext uri="{FF2B5EF4-FFF2-40B4-BE49-F238E27FC236}">
                <a16:creationId xmlns:a16="http://schemas.microsoft.com/office/drawing/2014/main" id="{73DB8153-CDD9-4495-A537-DED31D882DC1}"/>
              </a:ext>
            </a:extLst>
          </p:cNvPr>
          <p:cNvSpPr/>
          <p:nvPr/>
        </p:nvSpPr>
        <p:spPr>
          <a:xfrm>
            <a:off x="8433708" y="790995"/>
            <a:ext cx="2506436" cy="1834291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Actor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9" name="Rechthoek 28">
            <a:extLst>
              <a:ext uri="{FF2B5EF4-FFF2-40B4-BE49-F238E27FC236}">
                <a16:creationId xmlns:a16="http://schemas.microsoft.com/office/drawing/2014/main" id="{FEC1242E-B6DE-4E0A-8F4C-CECC256076D2}"/>
              </a:ext>
            </a:extLst>
          </p:cNvPr>
          <p:cNvSpPr/>
          <p:nvPr/>
        </p:nvSpPr>
        <p:spPr>
          <a:xfrm>
            <a:off x="8637367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1162056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355812E-9801-4B19-9F1B-74164E440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10</a:t>
            </a:fld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7A36A728-1E25-4822-941E-D810B2465B8C}"/>
              </a:ext>
            </a:extLst>
          </p:cNvPr>
          <p:cNvSpPr/>
          <p:nvPr/>
        </p:nvSpPr>
        <p:spPr>
          <a:xfrm>
            <a:off x="1191528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Title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E5E204C7-A1B3-4298-B879-83FC5D89C081}"/>
              </a:ext>
            </a:extLst>
          </p:cNvPr>
          <p:cNvSpPr/>
          <p:nvPr/>
        </p:nvSpPr>
        <p:spPr>
          <a:xfrm>
            <a:off x="3503387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Rating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A115FE8D-AEDA-4B16-B3F6-471334776642}"/>
              </a:ext>
            </a:extLst>
          </p:cNvPr>
          <p:cNvSpPr/>
          <p:nvPr/>
        </p:nvSpPr>
        <p:spPr>
          <a:xfrm>
            <a:off x="1191528" y="261964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Year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65324771-3650-42A2-965C-F027F875091E}"/>
              </a:ext>
            </a:extLst>
          </p:cNvPr>
          <p:cNvSpPr/>
          <p:nvPr/>
        </p:nvSpPr>
        <p:spPr>
          <a:xfrm>
            <a:off x="6150059" y="261964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User Rating</a:t>
            </a:r>
          </a:p>
          <a:p>
            <a:pPr algn="ctr"/>
            <a:r>
              <a:rPr lang="nl-NL" sz="1200" dirty="0" err="1">
                <a:solidFill>
                  <a:schemeClr val="tx1"/>
                </a:solidFill>
              </a:rPr>
              <a:t>float</a:t>
            </a:r>
            <a:endParaRPr lang="nl-NL" sz="1200" dirty="0">
              <a:solidFill>
                <a:schemeClr val="tx1"/>
              </a:solidFill>
            </a:endParaRP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DBB381E2-960C-413F-86FA-5B476EB37FDA}"/>
              </a:ext>
            </a:extLst>
          </p:cNvPr>
          <p:cNvSpPr/>
          <p:nvPr/>
        </p:nvSpPr>
        <p:spPr>
          <a:xfrm>
            <a:off x="6150060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Votes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9AEBD0E-4B50-49AE-938B-C63D4F2CBEDF}"/>
              </a:ext>
            </a:extLst>
          </p:cNvPr>
          <p:cNvSpPr/>
          <p:nvPr/>
        </p:nvSpPr>
        <p:spPr>
          <a:xfrm>
            <a:off x="6150060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Metascore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integer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C066104F-DEBC-4E23-8FDD-C349366B170F}"/>
              </a:ext>
            </a:extLst>
          </p:cNvPr>
          <p:cNvSpPr/>
          <p:nvPr/>
        </p:nvSpPr>
        <p:spPr>
          <a:xfrm>
            <a:off x="1191528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Languages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[string]</a:t>
            </a: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6E61D8BE-A765-4723-9FD9-ED589E611F3A}"/>
              </a:ext>
            </a:extLst>
          </p:cNvPr>
          <p:cNvSpPr/>
          <p:nvPr/>
        </p:nvSpPr>
        <p:spPr>
          <a:xfrm>
            <a:off x="3503387" y="3763660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Actors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[Actor]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8D3BEF5D-06ED-4027-B24A-74A487F2618F}"/>
              </a:ext>
            </a:extLst>
          </p:cNvPr>
          <p:cNvSpPr/>
          <p:nvPr/>
        </p:nvSpPr>
        <p:spPr>
          <a:xfrm>
            <a:off x="3503384" y="262222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Description</a:t>
            </a:r>
            <a:endParaRPr lang="nl-NL" dirty="0">
              <a:solidFill>
                <a:schemeClr val="tx1"/>
              </a:solidFill>
            </a:endParaRP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2DFFC161-C7E4-4BC8-9E1C-A6F2069A167F}"/>
              </a:ext>
            </a:extLst>
          </p:cNvPr>
          <p:cNvSpPr/>
          <p:nvPr/>
        </p:nvSpPr>
        <p:spPr>
          <a:xfrm>
            <a:off x="1191528" y="4902035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IMDb</a:t>
            </a:r>
            <a:r>
              <a:rPr lang="nl-NL" dirty="0">
                <a:solidFill>
                  <a:schemeClr val="tx1"/>
                </a:solidFill>
              </a:rPr>
              <a:t> URL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59C68DCF-D1B8-42A8-B840-7D9DA24D8F48}"/>
              </a:ext>
            </a:extLst>
          </p:cNvPr>
          <p:cNvSpPr/>
          <p:nvPr/>
        </p:nvSpPr>
        <p:spPr>
          <a:xfrm>
            <a:off x="985592" y="790996"/>
            <a:ext cx="4762065" cy="5276007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Movie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0" name="!!Actors">
            <a:extLst>
              <a:ext uri="{FF2B5EF4-FFF2-40B4-BE49-F238E27FC236}">
                <a16:creationId xmlns:a16="http://schemas.microsoft.com/office/drawing/2014/main" id="{73DB8153-CDD9-4495-A537-DED31D882DC1}"/>
              </a:ext>
            </a:extLst>
          </p:cNvPr>
          <p:cNvSpPr/>
          <p:nvPr/>
        </p:nvSpPr>
        <p:spPr>
          <a:xfrm>
            <a:off x="8658388" y="790995"/>
            <a:ext cx="2506436" cy="1834291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Actor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9" name="Rechthoek 28">
            <a:extLst>
              <a:ext uri="{FF2B5EF4-FFF2-40B4-BE49-F238E27FC236}">
                <a16:creationId xmlns:a16="http://schemas.microsoft.com/office/drawing/2014/main" id="{FEC1242E-B6DE-4E0A-8F4C-CECC256076D2}"/>
              </a:ext>
            </a:extLst>
          </p:cNvPr>
          <p:cNvSpPr/>
          <p:nvPr/>
        </p:nvSpPr>
        <p:spPr>
          <a:xfrm>
            <a:off x="8862047" y="1486911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string</a:t>
            </a:r>
          </a:p>
        </p:txBody>
      </p:sp>
      <p:sp>
        <p:nvSpPr>
          <p:cNvPr id="16" name="!!Actors">
            <a:extLst>
              <a:ext uri="{FF2B5EF4-FFF2-40B4-BE49-F238E27FC236}">
                <a16:creationId xmlns:a16="http://schemas.microsoft.com/office/drawing/2014/main" id="{F9C209EC-91C1-4E4D-AE25-063A0BEDBF63}"/>
              </a:ext>
            </a:extLst>
          </p:cNvPr>
          <p:cNvSpPr/>
          <p:nvPr/>
        </p:nvSpPr>
        <p:spPr>
          <a:xfrm>
            <a:off x="5949804" y="790994"/>
            <a:ext cx="2506436" cy="4111041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tlCol="0" anchor="t"/>
          <a:lstStyle/>
          <a:p>
            <a:r>
              <a:rPr lang="nl-NL" sz="2400" dirty="0">
                <a:solidFill>
                  <a:schemeClr val="tx1"/>
                </a:solidFill>
              </a:rPr>
              <a:t>Review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C06EED69-200E-401E-AC38-25D157BADDD3}"/>
              </a:ext>
            </a:extLst>
          </p:cNvPr>
          <p:cNvSpPr/>
          <p:nvPr/>
        </p:nvSpPr>
        <p:spPr>
          <a:xfrm>
            <a:off x="3503384" y="4902035"/>
            <a:ext cx="2105923" cy="966714"/>
          </a:xfrm>
          <a:prstGeom prst="rect">
            <a:avLst/>
          </a:pr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58456"/>
                      <a:gd name="connsiteY0" fmla="*/ 0 h 850789"/>
                      <a:gd name="connsiteX1" fmla="*/ 503901 w 1558456"/>
                      <a:gd name="connsiteY1" fmla="*/ 0 h 850789"/>
                      <a:gd name="connsiteX2" fmla="*/ 976632 w 1558456"/>
                      <a:gd name="connsiteY2" fmla="*/ 0 h 850789"/>
                      <a:gd name="connsiteX3" fmla="*/ 1558456 w 1558456"/>
                      <a:gd name="connsiteY3" fmla="*/ 0 h 850789"/>
                      <a:gd name="connsiteX4" fmla="*/ 1558456 w 1558456"/>
                      <a:gd name="connsiteY4" fmla="*/ 416887 h 850789"/>
                      <a:gd name="connsiteX5" fmla="*/ 1558456 w 1558456"/>
                      <a:gd name="connsiteY5" fmla="*/ 850789 h 850789"/>
                      <a:gd name="connsiteX6" fmla="*/ 1070140 w 1558456"/>
                      <a:gd name="connsiteY6" fmla="*/ 850789 h 850789"/>
                      <a:gd name="connsiteX7" fmla="*/ 581824 w 1558456"/>
                      <a:gd name="connsiteY7" fmla="*/ 850789 h 850789"/>
                      <a:gd name="connsiteX8" fmla="*/ 0 w 1558456"/>
                      <a:gd name="connsiteY8" fmla="*/ 850789 h 850789"/>
                      <a:gd name="connsiteX9" fmla="*/ 0 w 1558456"/>
                      <a:gd name="connsiteY9" fmla="*/ 450918 h 850789"/>
                      <a:gd name="connsiteX10" fmla="*/ 0 w 1558456"/>
                      <a:gd name="connsiteY10" fmla="*/ 0 h 8507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58456" h="850789" extrusionOk="0">
                        <a:moveTo>
                          <a:pt x="0" y="0"/>
                        </a:moveTo>
                        <a:cubicBezTo>
                          <a:pt x="232686" y="-60092"/>
                          <a:pt x="309196" y="48011"/>
                          <a:pt x="503901" y="0"/>
                        </a:cubicBezTo>
                        <a:cubicBezTo>
                          <a:pt x="698606" y="-48011"/>
                          <a:pt x="861459" y="17409"/>
                          <a:pt x="976632" y="0"/>
                        </a:cubicBezTo>
                        <a:cubicBezTo>
                          <a:pt x="1091805" y="-17409"/>
                          <a:pt x="1369778" y="17381"/>
                          <a:pt x="1558456" y="0"/>
                        </a:cubicBezTo>
                        <a:cubicBezTo>
                          <a:pt x="1574301" y="121138"/>
                          <a:pt x="1520735" y="293766"/>
                          <a:pt x="1558456" y="416887"/>
                        </a:cubicBezTo>
                        <a:cubicBezTo>
                          <a:pt x="1596177" y="540008"/>
                          <a:pt x="1529477" y="688747"/>
                          <a:pt x="1558456" y="850789"/>
                        </a:cubicBezTo>
                        <a:cubicBezTo>
                          <a:pt x="1450716" y="901214"/>
                          <a:pt x="1190871" y="832061"/>
                          <a:pt x="1070140" y="850789"/>
                        </a:cubicBezTo>
                        <a:cubicBezTo>
                          <a:pt x="949409" y="869517"/>
                          <a:pt x="757684" y="819393"/>
                          <a:pt x="581824" y="850789"/>
                        </a:cubicBezTo>
                        <a:cubicBezTo>
                          <a:pt x="405964" y="882185"/>
                          <a:pt x="142010" y="829650"/>
                          <a:pt x="0" y="850789"/>
                        </a:cubicBezTo>
                        <a:cubicBezTo>
                          <a:pt x="-45557" y="730300"/>
                          <a:pt x="23046" y="555931"/>
                          <a:pt x="0" y="450918"/>
                        </a:cubicBezTo>
                        <a:cubicBezTo>
                          <a:pt x="-23046" y="345905"/>
                          <a:pt x="15417" y="13617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</a:rPr>
              <a:t>Review</a:t>
            </a:r>
          </a:p>
          <a:p>
            <a:pPr algn="ctr"/>
            <a:r>
              <a:rPr lang="nl-NL" sz="1200" dirty="0">
                <a:solidFill>
                  <a:schemeClr val="tx1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447508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D2361C-93F6-442F-8D2F-99099CAA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Approach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0299A93-9780-40B0-A1AB-EEB9ADB99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7E103-4C36-4B76-B945-430795A6F2D8}" type="slidenum">
              <a:rPr lang="nl-NL" smtClean="0"/>
              <a:t>11</a:t>
            </a:fld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F004CC1-EAFB-40F3-901C-E3D7EB06C3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20000" y="2970000"/>
            <a:ext cx="8280000" cy="1650862"/>
          </a:xfrm>
        </p:spPr>
        <p:txBody>
          <a:bodyPr/>
          <a:lstStyle/>
          <a:p>
            <a:pPr marL="719138" indent="-457200">
              <a:buFont typeface="+mj-lt"/>
              <a:buAutoNum type="arabicPeriod"/>
            </a:pP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Investigate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data set</a:t>
            </a:r>
          </a:p>
          <a:p>
            <a:pPr marL="719138" indent="-457200">
              <a:buFont typeface="+mj-lt"/>
              <a:buAutoNum type="arabicPeriod"/>
            </a:pPr>
            <a:r>
              <a:rPr lang="nl-NL" dirty="0"/>
              <a:t>Design API </a:t>
            </a:r>
            <a:r>
              <a:rPr lang="nl-NL" dirty="0" err="1"/>
              <a:t>models</a:t>
            </a:r>
            <a:endParaRPr lang="nl-NL" dirty="0"/>
          </a:p>
          <a:p>
            <a:pPr marL="719138" indent="-457200">
              <a:buFont typeface="+mj-lt"/>
              <a:buAutoNum type="arabicPeriod"/>
            </a:pP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Design API </a:t>
            </a: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endpoints</a:t>
            </a:r>
            <a:endParaRPr lang="nl-NL" dirty="0">
              <a:solidFill>
                <a:schemeClr val="bg1">
                  <a:lumMod val="65000"/>
                </a:schemeClr>
              </a:solidFill>
            </a:endParaRPr>
          </a:p>
          <a:p>
            <a:pPr marL="719138" indent="-457200">
              <a:buFont typeface="+mj-lt"/>
              <a:buAutoNum type="arabicPeriod"/>
            </a:pPr>
            <a:r>
              <a:rPr lang="nl-NL" dirty="0" err="1">
                <a:solidFill>
                  <a:schemeClr val="bg1">
                    <a:lumMod val="65000"/>
                  </a:schemeClr>
                </a:solidFill>
              </a:rPr>
              <a:t>Flesh</a:t>
            </a:r>
            <a:r>
              <a:rPr lang="nl-NL" dirty="0">
                <a:solidFill>
                  <a:schemeClr val="bg1">
                    <a:lumMod val="65000"/>
                  </a:schemeClr>
                </a:solidFill>
              </a:rPr>
              <a:t> out model</a:t>
            </a:r>
          </a:p>
        </p:txBody>
      </p:sp>
    </p:spTree>
    <p:extLst>
      <p:ext uri="{BB962C8B-B14F-4D97-AF65-F5344CB8AC3E}">
        <p14:creationId xmlns:p14="http://schemas.microsoft.com/office/powerpoint/2010/main" val="396874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72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Thema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Subtiel effen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8D30E7FC-C423-4D2D-BD10-56EFB7EB839D}" vid="{5A2A0BC5-33B8-4A8A-8084-EC20E0739B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2657</TotalTime>
  <Words>270</Words>
  <Application>Microsoft Office PowerPoint</Application>
  <PresentationFormat>Breedbeeld</PresentationFormat>
  <Paragraphs>139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Arial</vt:lpstr>
      <vt:lpstr>Cascadia Code</vt:lpstr>
      <vt:lpstr>Segoe UI Light</vt:lpstr>
      <vt:lpstr>Segoe UI Semilight</vt:lpstr>
      <vt:lpstr>Default Theme</vt:lpstr>
      <vt:lpstr>PowerPoint-presentatie</vt:lpstr>
      <vt:lpstr>API design and specification</vt:lpstr>
      <vt:lpstr>Tutorial Series</vt:lpstr>
      <vt:lpstr>Demo App</vt:lpstr>
      <vt:lpstr>API Requirements</vt:lpstr>
      <vt:lpstr>REST Recap</vt:lpstr>
      <vt:lpstr>HTTP Verbs</vt:lpstr>
      <vt:lpstr>Approach</vt:lpstr>
      <vt:lpstr>PowerPoint-presentatie</vt:lpstr>
      <vt:lpstr>PowerPoint-presentatie</vt:lpstr>
      <vt:lpstr>PowerPoint-presentatie</vt:lpstr>
      <vt:lpstr>Approach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Floris Westerman</dc:creator>
  <cp:lastModifiedBy>Floris Westerman</cp:lastModifiedBy>
  <cp:revision>18</cp:revision>
  <dcterms:created xsi:type="dcterms:W3CDTF">2021-11-29T02:21:26Z</dcterms:created>
  <dcterms:modified xsi:type="dcterms:W3CDTF">2021-12-01T10:56:18Z</dcterms:modified>
</cp:coreProperties>
</file>