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75" r:id="rId14"/>
    <p:sldId id="268" r:id="rId15"/>
    <p:sldId id="271" r:id="rId16"/>
    <p:sldId id="269" r:id="rId17"/>
    <p:sldId id="270" r:id="rId18"/>
    <p:sldId id="272" r:id="rId19"/>
    <p:sldId id="273" r:id="rId20"/>
    <p:sldId id="274" r:id="rId21"/>
    <p:sldId id="276" r:id="rId22"/>
    <p:sldId id="277" r:id="rId23"/>
    <p:sldId id="278" r:id="rId24"/>
    <p:sldId id="281" r:id="rId25"/>
    <p:sldId id="279" r:id="rId26"/>
    <p:sldId id="280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ardsectie" id="{20610391-7A84-434F-B2B1-BA87903F20B8}">
          <p14:sldIdLst>
            <p14:sldId id="257"/>
            <p14:sldId id="256"/>
            <p14:sldId id="258"/>
          </p14:sldIdLst>
        </p14:section>
        <p14:section name="Database Design" id="{1938ACFE-E52E-445E-B826-04EC0197B3A4}">
          <p14:sldIdLst>
            <p14:sldId id="259"/>
            <p14:sldId id="260"/>
            <p14:sldId id="261"/>
            <p14:sldId id="262"/>
            <p14:sldId id="263"/>
            <p14:sldId id="265"/>
            <p14:sldId id="264"/>
            <p14:sldId id="266"/>
            <p14:sldId id="267"/>
            <p14:sldId id="275"/>
            <p14:sldId id="268"/>
          </p14:sldIdLst>
        </p14:section>
        <p14:section name="Backend Frameworks" id="{ADD51066-5432-41B4-81EC-F5A5A5DD86A2}">
          <p14:sldIdLst>
            <p14:sldId id="271"/>
            <p14:sldId id="269"/>
            <p14:sldId id="270"/>
            <p14:sldId id="272"/>
            <p14:sldId id="273"/>
            <p14:sldId id="274"/>
            <p14:sldId id="276"/>
          </p14:sldIdLst>
        </p14:section>
        <p14:section name="Backend Architecture" id="{81B60376-5591-4FA9-AAE6-D5E8B9B5ACFD}">
          <p14:sldIdLst>
            <p14:sldId id="277"/>
            <p14:sldId id="278"/>
            <p14:sldId id="281"/>
            <p14:sldId id="279"/>
            <p14:sldId id="280"/>
            <p14:sldId id="282"/>
            <p14:sldId id="283"/>
            <p14:sldId id="284"/>
          </p14:sldIdLst>
        </p14:section>
        <p14:section name="End" id="{5DD2D7B5-2F3F-462E-9F97-F23B1D38C17C}">
          <p14:sldIdLst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1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2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CB2939-EF81-4A1D-88EF-1F914C710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00" y="1757664"/>
            <a:ext cx="8640000" cy="1468800"/>
          </a:xfrm>
        </p:spPr>
        <p:txBody>
          <a:bodyPr anchor="b">
            <a:normAutofit/>
          </a:bodyPr>
          <a:lstStyle>
            <a:lvl1pPr>
              <a:defRPr sz="4500"/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83C1D55-BE30-4913-97C9-8A4B5805F2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FC907F19-5F58-4B00-A2D6-15BE9E68FA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20000" y="3060000"/>
            <a:ext cx="8640000" cy="2232000"/>
          </a:xfrm>
        </p:spPr>
        <p:txBody>
          <a:bodyPr anchor="t"/>
          <a:lstStyle>
            <a:lvl1pPr marL="72000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302397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5158E6-BFE0-4EF2-A193-3C0085BFE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B731D3A-6054-4511-A2E9-E2D6A36EF2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437AADF-02E6-4E61-8A90-A43F22763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0000" y="2970000"/>
            <a:ext cx="8280000" cy="18684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28452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5158E6-BFE0-4EF2-A193-3C0085BFE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B731D3A-6054-4511-A2E9-E2D6A36EF2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  <p:sp>
        <p:nvSpPr>
          <p:cNvPr id="6" name="Tijdelijke aanduiding voor afbeelding 5">
            <a:extLst>
              <a:ext uri="{FF2B5EF4-FFF2-40B4-BE49-F238E27FC236}">
                <a16:creationId xmlns:a16="http://schemas.microsoft.com/office/drawing/2014/main" id="{CD8CB388-72B4-45F4-9CEE-02D7C0DDD5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520000" y="2970000"/>
            <a:ext cx="8280000" cy="1868400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2096964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6A0032-55EC-45BB-8CD4-D2176F663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C1806A5-B5F0-47EE-A693-48769535ED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  <p:sp>
        <p:nvSpPr>
          <p:cNvPr id="4" name="Tijdelijke aanduiding voor afbeelding 5">
            <a:extLst>
              <a:ext uri="{FF2B5EF4-FFF2-40B4-BE49-F238E27FC236}">
                <a16:creationId xmlns:a16="http://schemas.microsoft.com/office/drawing/2014/main" id="{CC0BC91D-39B5-4E20-9599-C294C368A5D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520000" y="4838400"/>
            <a:ext cx="8280000" cy="1868400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D69DEDFC-133F-4A96-9D59-88BAC6BE1F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0000" y="2970000"/>
            <a:ext cx="8280000" cy="18684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571584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>
  <p:cSld name="Hoo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5158E6-BFE0-4EF2-A193-3C0085BFE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B731D3A-6054-4511-A2E9-E2D6A36EF2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437AADF-02E6-4E61-8A90-A43F22763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0000" y="2970000"/>
            <a:ext cx="8280000" cy="18684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8024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7.40741E-7 L -3.95833E-6 -0.27245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63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4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6227 L -0.00052 -0.13055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5" grpId="1">
        <p:tmplLst>
          <p:tmpl>
            <p:tnLst>
              <p:par>
                <p:cTn presetID="64" presetClass="path" presetSubtype="0" decel="50000" fill="hold" nodeType="withEffect">
                  <p:stCondLst>
                    <p:cond delay="0"/>
                  </p:stCondLst>
                  <p:childTnLst>
                    <p:animMotion origin="layout" path="M -0.00052 0.06227 L -0.00052 -0.13055 " pathEditMode="relative" rAng="0" ptsTypes="AA">
                      <p:cBhvr>
                        <p:cTn dur="500" fill="hold"/>
                        <p:tgtEl>
                          <p:spTgt spid="5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-9653"/>
                    </p:animMotion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5158E6-BFE0-4EF2-A193-3C0085BFE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B731D3A-6054-4511-A2E9-E2D6A36EF2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437AADF-02E6-4E61-8A90-A43F22763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0000" y="2970000"/>
            <a:ext cx="8280000" cy="18684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18EBA5D4-36D4-40AE-B410-C7D5B253285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4401218"/>
            <a:ext cx="12192000" cy="2456781"/>
          </a:xfrm>
          <a:solidFill>
            <a:schemeClr val="tx1">
              <a:alpha val="75000"/>
            </a:schemeClr>
          </a:solidFill>
        </p:spPr>
        <p:txBody>
          <a:bodyPr lIns="2628000" anchor="ctr" anchorCtr="0"/>
          <a:lstStyle>
            <a:lvl1pPr>
              <a:spcAft>
                <a:spcPts val="1200"/>
              </a:spcAft>
              <a:defRPr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  <a:lvl2pPr>
              <a:defRPr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2pPr>
            <a:lvl3pPr>
              <a:defRPr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3pPr>
            <a:lvl4pPr>
              <a:defRPr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4pPr>
            <a:lvl5pPr>
              <a:defRPr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68323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3.33333E-6 L -3.95833E-6 -0.27246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63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4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6227 L -0.00052 -0.13055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 0.35556 " pathEditMode="fixed" rAng="0" ptsTypes="AA">
                                      <p:cBhvr>
                                        <p:cTn id="20" dur="5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5" grpId="1">
        <p:tmplLst>
          <p:tmpl>
            <p:tnLst>
              <p:par>
                <p:cTn presetID="64" presetClass="path" presetSubtype="0" decel="50000" fill="hold" nodeType="withEffect">
                  <p:stCondLst>
                    <p:cond delay="0"/>
                  </p:stCondLst>
                  <p:childTnLst>
                    <p:animMotion origin="layout" path="M -0.00052 0.06227 L -0.00052 -0.13055 " pathEditMode="relative" rAng="0" ptsTypes="AA">
                      <p:cBhvr>
                        <p:cTn dur="500" fill="hold"/>
                        <p:tgtEl>
                          <p:spTgt spid="5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-9653"/>
                    </p:animMotion>
                  </p:childTnLst>
                </p:cTn>
              </p:par>
            </p:tnLst>
          </p:tmpl>
        </p:tmplLst>
      </p:bldP>
      <p:bldP spid="7" grpId="0" animBg="1">
        <p:tmplLst>
          <p:tmpl>
            <p:tnLst>
              <p:par>
                <p:cTn presetID="1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#ppt_h*1.125000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wipe(up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1" animBg="1">
        <p:tmplLst>
          <p:tmpl>
            <p:tnLst>
              <p:par>
                <p:cTn presetID="42" presetClass="path" presetSubtype="0" fill="hold" nodeType="withEffect">
                  <p:stCondLst>
                    <p:cond delay="0"/>
                  </p:stCondLst>
                  <p:childTnLst>
                    <p:animMotion origin="layout" path="M 0 -3.33333E-6 L 0 0.35556 " pathEditMode="fixed" rAng="0" ptsTypes="AA">
                      <p:cBhvr>
                        <p:cTn dur="500" spd="-100000" fill="hold"/>
                        <p:tgtEl>
                          <p:spTgt spid="7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778"/>
                    </p:animMotion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>
  <p:cSld name="Code met pre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5158E6-BFE0-4EF2-A193-3C0085BFE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B731D3A-6054-4511-A2E9-E2D6A36EF2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437AADF-02E6-4E61-8A90-A43F22763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0000" y="2970000"/>
            <a:ext cx="8280000" cy="18684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18EBA5D4-36D4-40AE-B410-C7D5B253285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4401218"/>
            <a:ext cx="12192000" cy="2456781"/>
          </a:xfrm>
          <a:solidFill>
            <a:schemeClr val="tx1">
              <a:alpha val="75000"/>
            </a:schemeClr>
          </a:solidFill>
        </p:spPr>
        <p:txBody>
          <a:bodyPr lIns="2628000" anchor="ctr" anchorCtr="0"/>
          <a:lstStyle>
            <a:lvl1pPr marL="720725" indent="-720725">
              <a:spcAft>
                <a:spcPts val="1200"/>
              </a:spcAft>
              <a:tabLst>
                <a:tab pos="627063" algn="r"/>
                <a:tab pos="720725" algn="l"/>
              </a:tabLst>
              <a:defRPr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  <a:lvl2pPr>
              <a:defRPr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2pPr>
            <a:lvl3pPr>
              <a:defRPr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3pPr>
            <a:lvl4pPr>
              <a:defRPr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4pPr>
            <a:lvl5pPr>
              <a:defRPr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1365443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 dir="ou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3.33333E-6 L -3.95833E-6 -0.27246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63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4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6227 L -0.00052 -0.13055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 0.35556 " pathEditMode="fixed" rAng="0" ptsTypes="AA">
                                      <p:cBhvr>
                                        <p:cTn id="20" dur="5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5" grpId="1">
        <p:tmplLst>
          <p:tmpl>
            <p:tnLst>
              <p:par>
                <p:cTn presetID="64" presetClass="path" presetSubtype="0" decel="50000" fill="hold" nodeType="withEffect">
                  <p:stCondLst>
                    <p:cond delay="0"/>
                  </p:stCondLst>
                  <p:childTnLst>
                    <p:animMotion origin="layout" path="M -0.00052 0.06227 L -0.00052 -0.13055 " pathEditMode="relative" rAng="0" ptsTypes="AA">
                      <p:cBhvr>
                        <p:cTn dur="500" fill="hold"/>
                        <p:tgtEl>
                          <p:spTgt spid="5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-9653"/>
                    </p:animMotion>
                  </p:childTnLst>
                </p:cTn>
              </p:par>
            </p:tnLst>
          </p:tmpl>
        </p:tmplLst>
      </p:bldP>
      <p:bldP spid="7" grpId="0" animBg="1">
        <p:tmplLst>
          <p:tmpl>
            <p:tnLst>
              <p:par>
                <p:cTn presetID="1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#ppt_h*1.125000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wipe(up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1" animBg="1">
        <p:tmplLst>
          <p:tmpl>
            <p:tnLst>
              <p:par>
                <p:cTn presetID="42" presetClass="path" presetSubtype="0" fill="hold" nodeType="withEffect">
                  <p:stCondLst>
                    <p:cond delay="0"/>
                  </p:stCondLst>
                  <p:childTnLst>
                    <p:animMotion origin="layout" path="M 0 -3.33333E-6 L 0 0.35556 " pathEditMode="fixed" rAng="0" ptsTypes="AA">
                      <p:cBhvr>
                        <p:cTn dur="500" spd="-100000" fill="hold"/>
                        <p:tgtEl>
                          <p:spTgt spid="7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778"/>
                    </p:animMotion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BF798E-336A-47E3-AC2C-AB380B37D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F0E6AA1-4568-4472-8FFD-399DA7B82D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31264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4A022AE-6BF3-4A6D-B0DD-4AAA8BCE45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42618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gin/Ein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4099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bg1">
                <a:lumMod val="75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2520000" y="2664846"/>
            <a:ext cx="8280000" cy="1143000"/>
          </a:xfrm>
          <a:prstGeom prst="rect">
            <a:avLst/>
          </a:prstGeom>
        </p:spPr>
        <p:txBody>
          <a:bodyPr vert="horz" lIns="81000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  <a:endParaRPr lang="en-GB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2520000" y="2970000"/>
            <a:ext cx="8280000" cy="1868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Met cijfer</a:t>
            </a:r>
          </a:p>
          <a:p>
            <a:pPr lvl="2"/>
            <a:r>
              <a:rPr lang="nl-NL" dirty="0"/>
              <a:t>Tweede</a:t>
            </a:r>
          </a:p>
          <a:p>
            <a:pPr lvl="3"/>
            <a:r>
              <a:rPr lang="nl-NL" dirty="0"/>
              <a:t>Met cijfer</a:t>
            </a:r>
          </a:p>
          <a:p>
            <a:pPr lvl="4"/>
            <a:r>
              <a:rPr lang="nl-NL" dirty="0"/>
              <a:t>Derde met cijfer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11164824" y="197127"/>
            <a:ext cx="821499" cy="5161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i="1">
                <a:solidFill>
                  <a:schemeClr val="tx1">
                    <a:tint val="75000"/>
                  </a:schemeClr>
                </a:solidFill>
                <a:latin typeface="+mj-lt"/>
                <a:cs typeface="Segoe UI Light" panose="020B0502040204020203" pitchFamily="34" charset="0"/>
              </a:defRPr>
            </a:lvl1pPr>
          </a:lstStyle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7731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5" r:id="rId3"/>
    <p:sldLayoutId id="2147483666" r:id="rId4"/>
    <p:sldLayoutId id="2147483667" r:id="rId5"/>
    <p:sldLayoutId id="2147483669" r:id="rId6"/>
    <p:sldLayoutId id="2147483670" r:id="rId7"/>
    <p:sldLayoutId id="2147483668" r:id="rId8"/>
    <p:sldLayoutId id="2147483663" r:id="rId9"/>
    <p:sldLayoutId id="2147483664" r:id="rId10"/>
  </p:sldLayoutIdLst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7.40741E-7 L -0.00052 -0.14167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708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4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6227 L -3.95833E-6 -2.96296E-6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3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>
        <p:tmplLst>
          <p:tmpl>
            <p:tnLst>
              <p:par>
                <p:cTn presetID="1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#ppt_h*1.125000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>
        <p:tmplLst>
          <p:tmpl>
            <p:tnLst>
              <p:par>
                <p:cTn presetID="64" presetClass="path" presetSubtype="0" decel="50000" fill="hold" nodeType="withEffect">
                  <p:stCondLst>
                    <p:cond delay="0"/>
                  </p:stCondLst>
                  <p:childTnLst>
                    <p:animMotion origin="layout" path="M -0.00052 0.06227 L -3.95833E-6 -2.96296E-6 " pathEditMode="relative" rAng="0" ptsTypes="AA">
                      <p:cBhvr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26" y="-3125"/>
                    </p:animMotion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defTabSz="385763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Segoe UI Light" panose="020B0502040204020203" pitchFamily="34" charset="0"/>
        </a:defRPr>
      </a:lvl1pPr>
    </p:titleStyle>
    <p:bodyStyle>
      <a:lvl1pPr marL="720000" indent="0" algn="l" defTabSz="180000" rtl="0" eaLnBrk="1" latinLnBrk="0" hangingPunct="1">
        <a:spcBef>
          <a:spcPct val="20000"/>
        </a:spcBef>
        <a:buFont typeface="Arial" panose="020B0604020202020204" pitchFamily="34" charset="0"/>
        <a:buNone/>
        <a:tabLst>
          <a:tab pos="180000" algn="l"/>
        </a:tabLst>
        <a:defRPr sz="2100" kern="1200">
          <a:solidFill>
            <a:schemeClr val="tx1"/>
          </a:solidFill>
          <a:latin typeface="+mn-lt"/>
          <a:ea typeface="+mn-ea"/>
          <a:cs typeface="Segoe UI Semilight" panose="020B0402040204020203" pitchFamily="34" charset="0"/>
        </a:defRPr>
      </a:lvl1pPr>
      <a:lvl2pPr marL="720000" indent="-360000" algn="l" defTabSz="1800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+mn-lt"/>
          <a:ea typeface="+mn-ea"/>
          <a:cs typeface="Segoe UI Semilight" panose="020B0402040204020203" pitchFamily="34" charset="0"/>
        </a:defRPr>
      </a:lvl2pPr>
      <a:lvl3pPr marL="1080000" indent="0" algn="l" defTabSz="180000" rtl="0" eaLnBrk="1" latinLnBrk="0" hangingPunct="1">
        <a:spcBef>
          <a:spcPct val="20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Segoe UI Semilight" panose="020B0402040204020203" pitchFamily="34" charset="0"/>
        </a:defRPr>
      </a:lvl3pPr>
      <a:lvl4pPr marL="1080000" indent="-360000" algn="l" defTabSz="1800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Segoe UI Semilight" panose="020B0402040204020203" pitchFamily="34" charset="0"/>
        </a:defRPr>
      </a:lvl4pPr>
      <a:lvl5pPr marL="1260000" indent="-360000" algn="l" defTabSz="180000" rtl="0" eaLnBrk="1" latinLnBrk="0" hangingPunct="1">
        <a:spcBef>
          <a:spcPct val="20000"/>
        </a:spcBef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Segoe UI Semilight" panose="020B0402040204020203" pitchFamily="34" charset="0"/>
        </a:defRPr>
      </a:lvl5pPr>
      <a:lvl6pPr marL="1060847" indent="-96441" algn="l" defTabSz="385763" rtl="0" eaLnBrk="1" latinLnBrk="0" hangingPunct="1">
        <a:spcBef>
          <a:spcPct val="20000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spcBef>
          <a:spcPct val="20000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spcBef>
          <a:spcPct val="20000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spcBef>
          <a:spcPct val="20000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401">
          <p15:clr>
            <a:srgbClr val="F26B43"/>
          </p15:clr>
        </p15:guide>
        <p15:guide id="2" pos="279">
          <p15:clr>
            <a:srgbClr val="F26B43"/>
          </p15:clr>
        </p15:guide>
        <p15:guide id="3" pos="937">
          <p15:clr>
            <a:srgbClr val="F26B43"/>
          </p15:clr>
        </p15:guide>
        <p15:guide id="4" pos="67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5747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816A5D-76CB-4673-B107-277B7293D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Backend Architecture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AFFBBC2-502A-4F56-B5E7-EF05535C03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 err="1"/>
              <a:t>Where</a:t>
            </a:r>
            <a:r>
              <a:rPr lang="nl-NL" dirty="0"/>
              <a:t> the real </a:t>
            </a:r>
            <a:r>
              <a:rPr lang="nl-NL" dirty="0" err="1"/>
              <a:t>magic</a:t>
            </a:r>
            <a:r>
              <a:rPr lang="nl-NL" dirty="0"/>
              <a:t> </a:t>
            </a:r>
            <a:r>
              <a:rPr lang="nl-NL" dirty="0" err="1"/>
              <a:t>happens</a:t>
            </a:r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Web Engineering 21/22</a:t>
            </a:r>
          </a:p>
          <a:p>
            <a:r>
              <a:rPr lang="nl-NL" dirty="0"/>
              <a:t>Floris Westerman</a:t>
            </a:r>
          </a:p>
        </p:txBody>
      </p:sp>
    </p:spTree>
    <p:extLst>
      <p:ext uri="{BB962C8B-B14F-4D97-AF65-F5344CB8AC3E}">
        <p14:creationId xmlns:p14="http://schemas.microsoft.com/office/powerpoint/2010/main" val="886208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A9E683-8DDD-4B07-AD21-F2AF1D807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Outline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66A8D2E-BCCD-4406-B6E9-620A531213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2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0AD4CEC-0DED-4844-BC48-447F5E3348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0000" y="2969999"/>
            <a:ext cx="8280000" cy="3704401"/>
          </a:xfrm>
        </p:spPr>
        <p:txBody>
          <a:bodyPr>
            <a:normAutofit/>
          </a:bodyPr>
          <a:lstStyle/>
          <a:p>
            <a:pPr marL="719138" indent="-457200">
              <a:buFont typeface="+mj-lt"/>
              <a:buAutoNum type="arabicPeriod"/>
            </a:pPr>
            <a:r>
              <a:rPr lang="nl-NL" dirty="0"/>
              <a:t>Database Design</a:t>
            </a:r>
          </a:p>
          <a:p>
            <a:pPr marL="1079138" lvl="2" indent="-457200">
              <a:buFont typeface="+mj-lt"/>
              <a:buAutoNum type="arabicPeriod"/>
            </a:pPr>
            <a:r>
              <a:rPr lang="nl-NL" dirty="0"/>
              <a:t>ORM</a:t>
            </a:r>
          </a:p>
          <a:p>
            <a:pPr marL="719138" indent="-457200">
              <a:buFont typeface="+mj-lt"/>
              <a:buAutoNum type="arabicPeriod"/>
            </a:pPr>
            <a:r>
              <a:rPr lang="nl-NL" dirty="0"/>
              <a:t>Backend </a:t>
            </a:r>
            <a:r>
              <a:rPr lang="nl-NL" dirty="0" err="1"/>
              <a:t>Frameworks</a:t>
            </a:r>
            <a:endParaRPr lang="nl-NL" dirty="0"/>
          </a:p>
          <a:p>
            <a:pPr marL="1079138" lvl="2" indent="-457200">
              <a:buFont typeface="+mj-lt"/>
              <a:buAutoNum type="arabicPeriod"/>
            </a:pPr>
            <a:r>
              <a:rPr lang="nl-NL" dirty="0"/>
              <a:t>Middleware</a:t>
            </a:r>
          </a:p>
          <a:p>
            <a:pPr marL="1079138" lvl="2" indent="-457200">
              <a:buFont typeface="+mj-lt"/>
              <a:buAutoNum type="arabicPeriod"/>
            </a:pPr>
            <a:r>
              <a:rPr lang="nl-NL" dirty="0"/>
              <a:t>Routing</a:t>
            </a:r>
          </a:p>
          <a:p>
            <a:pPr marL="719138" indent="-457200">
              <a:buFont typeface="+mj-lt"/>
              <a:buAutoNum type="arabicPeriod"/>
            </a:pPr>
            <a:r>
              <a:rPr lang="nl-NL" dirty="0"/>
              <a:t>Backend Architecture</a:t>
            </a:r>
          </a:p>
          <a:p>
            <a:pPr marL="1079138" lvl="2" indent="-457200">
              <a:buFont typeface="+mj-lt"/>
              <a:buAutoNum type="arabicPeriod"/>
            </a:pPr>
            <a:r>
              <a:rPr lang="nl-NL" dirty="0"/>
              <a:t>Code </a:t>
            </a:r>
            <a:r>
              <a:rPr lang="nl-NL" dirty="0" err="1"/>
              <a:t>organisation</a:t>
            </a:r>
            <a:endParaRPr lang="nl-NL" dirty="0"/>
          </a:p>
          <a:p>
            <a:pPr marL="1079138" lvl="2" indent="-457200">
              <a:buFont typeface="+mj-lt"/>
              <a:buAutoNum type="arabicPeriod"/>
            </a:pPr>
            <a:r>
              <a:rPr lang="nl-NL" dirty="0"/>
              <a:t>Bonus: </a:t>
            </a:r>
            <a:r>
              <a:rPr lang="nl-NL" dirty="0" err="1"/>
              <a:t>Dependency</a:t>
            </a:r>
            <a:r>
              <a:rPr lang="nl-NL" dirty="0"/>
              <a:t> </a:t>
            </a:r>
            <a:r>
              <a:rPr lang="nl-NL" dirty="0" err="1"/>
              <a:t>Injection</a:t>
            </a:r>
            <a:r>
              <a:rPr lang="nl-NL" dirty="0"/>
              <a:t> &amp; </a:t>
            </a:r>
            <a:r>
              <a:rPr lang="nl-NL" dirty="0" err="1"/>
              <a:t>Inversion</a:t>
            </a:r>
            <a:r>
              <a:rPr lang="nl-NL" dirty="0"/>
              <a:t> of Control</a:t>
            </a:r>
          </a:p>
          <a:p>
            <a:pPr marL="261938"/>
            <a:endParaRPr lang="nl-NL" dirty="0"/>
          </a:p>
          <a:p>
            <a:pPr marL="719138"/>
            <a:r>
              <a:rPr lang="nl-NL" dirty="0"/>
              <a:t>Next Tutorial: demo apps</a:t>
            </a:r>
          </a:p>
        </p:txBody>
      </p:sp>
    </p:spTree>
    <p:extLst>
      <p:ext uri="{BB962C8B-B14F-4D97-AF65-F5344CB8AC3E}">
        <p14:creationId xmlns:p14="http://schemas.microsoft.com/office/powerpoint/2010/main" val="364409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1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D3108F76-3B2B-4F96-B5AC-E8006A4DE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Database Design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0CA32B01-791B-4697-8B65-85F5FA4C50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3</a:t>
            </a:fld>
            <a:endParaRPr lang="nl-NL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05011EC-AD80-462B-92DA-FA25F14C21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Database </a:t>
            </a:r>
            <a:r>
              <a:rPr lang="nl-NL" dirty="0" err="1"/>
              <a:t>Models</a:t>
            </a:r>
            <a:r>
              <a:rPr lang="nl-NL" dirty="0"/>
              <a:t> != API </a:t>
            </a:r>
            <a:r>
              <a:rPr lang="nl-NL" dirty="0" err="1"/>
              <a:t>Models</a:t>
            </a:r>
            <a:endParaRPr lang="nl-NL" dirty="0"/>
          </a:p>
          <a:p>
            <a:r>
              <a:rPr lang="nl-NL" dirty="0"/>
              <a:t>Design </a:t>
            </a:r>
            <a:r>
              <a:rPr lang="nl-NL" dirty="0" err="1"/>
              <a:t>tailored</a:t>
            </a:r>
            <a:r>
              <a:rPr lang="nl-NL" dirty="0"/>
              <a:t> to DBMS of </a:t>
            </a:r>
            <a:r>
              <a:rPr lang="nl-NL" dirty="0" err="1"/>
              <a:t>choice</a:t>
            </a:r>
            <a:endParaRPr lang="nl-NL" dirty="0"/>
          </a:p>
          <a:p>
            <a:endParaRPr lang="nl-NL" dirty="0"/>
          </a:p>
          <a:p>
            <a:r>
              <a:rPr lang="nl-NL" dirty="0"/>
              <a:t>NOT </a:t>
            </a:r>
            <a:r>
              <a:rPr lang="nl-NL" dirty="0" err="1"/>
              <a:t>mandatory</a:t>
            </a:r>
            <a:r>
              <a:rPr lang="nl-NL" dirty="0"/>
              <a:t> for project</a:t>
            </a:r>
          </a:p>
        </p:txBody>
      </p:sp>
    </p:spTree>
    <p:extLst>
      <p:ext uri="{BB962C8B-B14F-4D97-AF65-F5344CB8AC3E}">
        <p14:creationId xmlns:p14="http://schemas.microsoft.com/office/powerpoint/2010/main" val="2207175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1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DB2CF67-A80C-4F73-9702-AE29B301A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Movies Database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607BEF6-1D08-4B9A-8E6D-B03C07E88A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4</a:t>
            </a:fld>
            <a:endParaRPr lang="nl-NL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AC49F6D4-660A-4F82-BF1D-DEA4A3B3D4A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 err="1"/>
              <a:t>MySQL</a:t>
            </a:r>
            <a:endParaRPr lang="nl-NL" dirty="0"/>
          </a:p>
          <a:p>
            <a:r>
              <a:rPr lang="nl-NL" dirty="0" err="1"/>
              <a:t>Relational</a:t>
            </a:r>
            <a:r>
              <a:rPr lang="nl-NL" dirty="0"/>
              <a:t> Database</a:t>
            </a:r>
          </a:p>
          <a:p>
            <a:r>
              <a:rPr lang="nl-NL" dirty="0"/>
              <a:t>Start design </a:t>
            </a:r>
            <a:r>
              <a:rPr lang="nl-NL" dirty="0" err="1"/>
              <a:t>from</a:t>
            </a:r>
            <a:r>
              <a:rPr lang="nl-NL" dirty="0"/>
              <a:t> data set,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API </a:t>
            </a:r>
            <a:r>
              <a:rPr lang="nl-NL" dirty="0" err="1"/>
              <a:t>models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68601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1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C159370F-922F-4C10-AE01-B8F6180695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5</a:t>
            </a:fld>
            <a:endParaRPr lang="nl-NL"/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95B8D23A-5FCE-4C56-8E76-C0091CEC29BA}"/>
              </a:ext>
            </a:extLst>
          </p:cNvPr>
          <p:cNvSpPr/>
          <p:nvPr/>
        </p:nvSpPr>
        <p:spPr>
          <a:xfrm>
            <a:off x="2737082" y="1486911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Title</a:t>
            </a:r>
            <a:endParaRPr lang="nl-NL" dirty="0">
              <a:solidFill>
                <a:schemeClr val="tx1"/>
              </a:solidFill>
            </a:endParaRP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string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3458FC91-4294-424A-990E-36433ADF349A}"/>
              </a:ext>
            </a:extLst>
          </p:cNvPr>
          <p:cNvSpPr/>
          <p:nvPr/>
        </p:nvSpPr>
        <p:spPr>
          <a:xfrm>
            <a:off x="5048941" y="1486911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Rating</a:t>
            </a: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string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FD5E7B60-E27A-462E-9953-D8D4C77BA6D6}"/>
              </a:ext>
            </a:extLst>
          </p:cNvPr>
          <p:cNvSpPr/>
          <p:nvPr/>
        </p:nvSpPr>
        <p:spPr>
          <a:xfrm>
            <a:off x="2737079" y="2625286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Year</a:t>
            </a:r>
            <a:endParaRPr lang="nl-NL" dirty="0">
              <a:solidFill>
                <a:schemeClr val="tx1"/>
              </a:solidFill>
            </a:endParaRP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integer</a:t>
            </a:r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4BFADCA8-BE0C-4A3A-BF8B-CCC5A5246DF6}"/>
              </a:ext>
            </a:extLst>
          </p:cNvPr>
          <p:cNvSpPr/>
          <p:nvPr/>
        </p:nvSpPr>
        <p:spPr>
          <a:xfrm>
            <a:off x="7360799" y="2625286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User Rating</a:t>
            </a:r>
          </a:p>
          <a:p>
            <a:pPr algn="ctr"/>
            <a:r>
              <a:rPr lang="nl-NL" sz="1200" dirty="0" err="1">
                <a:solidFill>
                  <a:schemeClr val="tx1"/>
                </a:solidFill>
              </a:rPr>
              <a:t>float</a:t>
            </a:r>
            <a:endParaRPr lang="nl-NL" sz="1200" dirty="0">
              <a:solidFill>
                <a:schemeClr val="tx1"/>
              </a:solidFill>
            </a:endParaRP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9025334D-804F-4DD9-8D03-CF0B8FE7A0EC}"/>
              </a:ext>
            </a:extLst>
          </p:cNvPr>
          <p:cNvSpPr/>
          <p:nvPr/>
        </p:nvSpPr>
        <p:spPr>
          <a:xfrm>
            <a:off x="7360799" y="1486911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Votes</a:t>
            </a:r>
            <a:endParaRPr lang="nl-NL" dirty="0">
              <a:solidFill>
                <a:schemeClr val="tx1"/>
              </a:solidFill>
            </a:endParaRP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integer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19339B4-9D06-4FBB-9667-78C35DEDEE9B}"/>
              </a:ext>
            </a:extLst>
          </p:cNvPr>
          <p:cNvSpPr/>
          <p:nvPr/>
        </p:nvSpPr>
        <p:spPr>
          <a:xfrm>
            <a:off x="7354897" y="3763660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Metascore</a:t>
            </a: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integer</a:t>
            </a:r>
          </a:p>
        </p:txBody>
      </p:sp>
      <p:sp>
        <p:nvSpPr>
          <p:cNvPr id="9" name="!!Languages">
            <a:extLst>
              <a:ext uri="{FF2B5EF4-FFF2-40B4-BE49-F238E27FC236}">
                <a16:creationId xmlns:a16="http://schemas.microsoft.com/office/drawing/2014/main" id="{0E494FAC-AE71-4ACA-ADF1-73A2FE5BEBA2}"/>
              </a:ext>
            </a:extLst>
          </p:cNvPr>
          <p:cNvSpPr/>
          <p:nvPr/>
        </p:nvSpPr>
        <p:spPr>
          <a:xfrm>
            <a:off x="2737082" y="3763660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Languages</a:t>
            </a:r>
            <a:endParaRPr lang="nl-NL" dirty="0">
              <a:solidFill>
                <a:schemeClr val="tx1"/>
              </a:solidFill>
            </a:endParaRP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[string]</a:t>
            </a:r>
          </a:p>
        </p:txBody>
      </p:sp>
      <p:sp>
        <p:nvSpPr>
          <p:cNvPr id="10" name="!!Actors">
            <a:extLst>
              <a:ext uri="{FF2B5EF4-FFF2-40B4-BE49-F238E27FC236}">
                <a16:creationId xmlns:a16="http://schemas.microsoft.com/office/drawing/2014/main" id="{C7945D02-BD6D-4786-8A1A-4AD62E667D51}"/>
              </a:ext>
            </a:extLst>
          </p:cNvPr>
          <p:cNvSpPr/>
          <p:nvPr/>
        </p:nvSpPr>
        <p:spPr>
          <a:xfrm>
            <a:off x="5048941" y="3763660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Actors</a:t>
            </a: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[string]</a:t>
            </a:r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0E729995-B746-4C84-9740-3BE416A062A1}"/>
              </a:ext>
            </a:extLst>
          </p:cNvPr>
          <p:cNvSpPr/>
          <p:nvPr/>
        </p:nvSpPr>
        <p:spPr>
          <a:xfrm>
            <a:off x="5048941" y="2625286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Description</a:t>
            </a:r>
            <a:endParaRPr lang="nl-NL" dirty="0">
              <a:solidFill>
                <a:schemeClr val="tx1"/>
              </a:solidFill>
            </a:endParaRP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string</a:t>
            </a:r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61002218-C20E-4F91-87AA-4CE12F923063}"/>
              </a:ext>
            </a:extLst>
          </p:cNvPr>
          <p:cNvSpPr/>
          <p:nvPr/>
        </p:nvSpPr>
        <p:spPr>
          <a:xfrm>
            <a:off x="2737080" y="4902034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IMDb</a:t>
            </a:r>
            <a:r>
              <a:rPr lang="nl-NL" dirty="0">
                <a:solidFill>
                  <a:schemeClr val="tx1"/>
                </a:solidFill>
              </a:rPr>
              <a:t> URL</a:t>
            </a: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string</a:t>
            </a:r>
          </a:p>
        </p:txBody>
      </p:sp>
      <p:sp>
        <p:nvSpPr>
          <p:cNvPr id="13" name="!!Movies">
            <a:extLst>
              <a:ext uri="{FF2B5EF4-FFF2-40B4-BE49-F238E27FC236}">
                <a16:creationId xmlns:a16="http://schemas.microsoft.com/office/drawing/2014/main" id="{8FAD00DD-3339-4D1E-8614-F9DDB4FA37BB}"/>
              </a:ext>
            </a:extLst>
          </p:cNvPr>
          <p:cNvSpPr/>
          <p:nvPr/>
        </p:nvSpPr>
        <p:spPr>
          <a:xfrm>
            <a:off x="2531146" y="790996"/>
            <a:ext cx="7129707" cy="5276007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44000" rtlCol="0" anchor="t"/>
          <a:lstStyle/>
          <a:p>
            <a:r>
              <a:rPr lang="nl-NL" sz="2400" dirty="0">
                <a:solidFill>
                  <a:schemeClr val="tx1"/>
                </a:solidFill>
              </a:rPr>
              <a:t>Movie</a:t>
            </a:r>
            <a:endParaRPr lang="nl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728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1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C159370F-922F-4C10-AE01-B8F6180695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6</a:t>
            </a:fld>
            <a:endParaRPr lang="nl-NL"/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95B8D23A-5FCE-4C56-8E76-C0091CEC29BA}"/>
              </a:ext>
            </a:extLst>
          </p:cNvPr>
          <p:cNvSpPr/>
          <p:nvPr/>
        </p:nvSpPr>
        <p:spPr>
          <a:xfrm>
            <a:off x="908282" y="1486911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Title</a:t>
            </a:r>
            <a:endParaRPr lang="nl-NL" dirty="0">
              <a:solidFill>
                <a:schemeClr val="tx1"/>
              </a:solidFill>
            </a:endParaRP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string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3458FC91-4294-424A-990E-36433ADF349A}"/>
              </a:ext>
            </a:extLst>
          </p:cNvPr>
          <p:cNvSpPr/>
          <p:nvPr/>
        </p:nvSpPr>
        <p:spPr>
          <a:xfrm>
            <a:off x="3220141" y="1486911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Rating</a:t>
            </a: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string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FD5E7B60-E27A-462E-9953-D8D4C77BA6D6}"/>
              </a:ext>
            </a:extLst>
          </p:cNvPr>
          <p:cNvSpPr/>
          <p:nvPr/>
        </p:nvSpPr>
        <p:spPr>
          <a:xfrm>
            <a:off x="908279" y="2625286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Year</a:t>
            </a:r>
            <a:endParaRPr lang="nl-NL" dirty="0">
              <a:solidFill>
                <a:schemeClr val="tx1"/>
              </a:solidFill>
            </a:endParaRP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integer</a:t>
            </a:r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4BFADCA8-BE0C-4A3A-BF8B-CCC5A5246DF6}"/>
              </a:ext>
            </a:extLst>
          </p:cNvPr>
          <p:cNvSpPr/>
          <p:nvPr/>
        </p:nvSpPr>
        <p:spPr>
          <a:xfrm>
            <a:off x="5531999" y="2625286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User Rating</a:t>
            </a:r>
          </a:p>
          <a:p>
            <a:pPr algn="ctr"/>
            <a:r>
              <a:rPr lang="nl-NL" sz="1200" dirty="0" err="1">
                <a:solidFill>
                  <a:schemeClr val="tx1"/>
                </a:solidFill>
              </a:rPr>
              <a:t>float</a:t>
            </a:r>
            <a:endParaRPr lang="nl-NL" sz="1200" dirty="0">
              <a:solidFill>
                <a:schemeClr val="tx1"/>
              </a:solidFill>
            </a:endParaRP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9025334D-804F-4DD9-8D03-CF0B8FE7A0EC}"/>
              </a:ext>
            </a:extLst>
          </p:cNvPr>
          <p:cNvSpPr/>
          <p:nvPr/>
        </p:nvSpPr>
        <p:spPr>
          <a:xfrm>
            <a:off x="5531999" y="1486911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Votes</a:t>
            </a:r>
            <a:endParaRPr lang="nl-NL" dirty="0">
              <a:solidFill>
                <a:schemeClr val="tx1"/>
              </a:solidFill>
            </a:endParaRP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integer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19339B4-9D06-4FBB-9667-78C35DEDEE9B}"/>
              </a:ext>
            </a:extLst>
          </p:cNvPr>
          <p:cNvSpPr/>
          <p:nvPr/>
        </p:nvSpPr>
        <p:spPr>
          <a:xfrm>
            <a:off x="5526097" y="3763660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Metascore</a:t>
            </a: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integer</a:t>
            </a: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0E494FAC-AE71-4ACA-ADF1-73A2FE5BEBA2}"/>
              </a:ext>
            </a:extLst>
          </p:cNvPr>
          <p:cNvSpPr/>
          <p:nvPr/>
        </p:nvSpPr>
        <p:spPr>
          <a:xfrm>
            <a:off x="908282" y="3763660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Languages</a:t>
            </a:r>
            <a:endParaRPr lang="nl-NL" dirty="0">
              <a:solidFill>
                <a:schemeClr val="tx1"/>
              </a:solidFill>
            </a:endParaRP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[Language]</a:t>
            </a:r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C7945D02-BD6D-4786-8A1A-4AD62E667D51}"/>
              </a:ext>
            </a:extLst>
          </p:cNvPr>
          <p:cNvSpPr/>
          <p:nvPr/>
        </p:nvSpPr>
        <p:spPr>
          <a:xfrm>
            <a:off x="3220141" y="3763660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Actors</a:t>
            </a: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[Actor]</a:t>
            </a:r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0E729995-B746-4C84-9740-3BE416A062A1}"/>
              </a:ext>
            </a:extLst>
          </p:cNvPr>
          <p:cNvSpPr/>
          <p:nvPr/>
        </p:nvSpPr>
        <p:spPr>
          <a:xfrm>
            <a:off x="3220141" y="2625286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Description</a:t>
            </a:r>
            <a:endParaRPr lang="nl-NL" dirty="0">
              <a:solidFill>
                <a:schemeClr val="tx1"/>
              </a:solidFill>
            </a:endParaRP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string</a:t>
            </a:r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61002218-C20E-4F91-87AA-4CE12F923063}"/>
              </a:ext>
            </a:extLst>
          </p:cNvPr>
          <p:cNvSpPr/>
          <p:nvPr/>
        </p:nvSpPr>
        <p:spPr>
          <a:xfrm>
            <a:off x="908280" y="4902034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IMDb</a:t>
            </a:r>
            <a:r>
              <a:rPr lang="nl-NL" dirty="0">
                <a:solidFill>
                  <a:schemeClr val="tx1"/>
                </a:solidFill>
              </a:rPr>
              <a:t> URL</a:t>
            </a: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string</a:t>
            </a:r>
          </a:p>
        </p:txBody>
      </p:sp>
      <p:sp>
        <p:nvSpPr>
          <p:cNvPr id="13" name="!!Movies">
            <a:extLst>
              <a:ext uri="{FF2B5EF4-FFF2-40B4-BE49-F238E27FC236}">
                <a16:creationId xmlns:a16="http://schemas.microsoft.com/office/drawing/2014/main" id="{8FAD00DD-3339-4D1E-8614-F9DDB4FA37BB}"/>
              </a:ext>
            </a:extLst>
          </p:cNvPr>
          <p:cNvSpPr/>
          <p:nvPr/>
        </p:nvSpPr>
        <p:spPr>
          <a:xfrm>
            <a:off x="702346" y="790996"/>
            <a:ext cx="7129707" cy="5276007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44000" rtlCol="0" anchor="t"/>
          <a:lstStyle/>
          <a:p>
            <a:r>
              <a:rPr lang="nl-NL" sz="2400" dirty="0">
                <a:solidFill>
                  <a:schemeClr val="tx1"/>
                </a:solidFill>
              </a:rPr>
              <a:t>Movie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4" name="!!Actors">
            <a:extLst>
              <a:ext uri="{FF2B5EF4-FFF2-40B4-BE49-F238E27FC236}">
                <a16:creationId xmlns:a16="http://schemas.microsoft.com/office/drawing/2014/main" id="{56E8E2B7-653D-4D84-9489-E0FE56F5E2A8}"/>
              </a:ext>
            </a:extLst>
          </p:cNvPr>
          <p:cNvSpPr/>
          <p:nvPr/>
        </p:nvSpPr>
        <p:spPr>
          <a:xfrm>
            <a:off x="8447668" y="790995"/>
            <a:ext cx="2506436" cy="1834291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44000" rtlCol="0" anchor="t"/>
          <a:lstStyle/>
          <a:p>
            <a:r>
              <a:rPr lang="nl-NL" sz="2400" dirty="0">
                <a:solidFill>
                  <a:schemeClr val="tx1"/>
                </a:solidFill>
              </a:rPr>
              <a:t>Actor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5" name="Rechthoek 14">
            <a:extLst>
              <a:ext uri="{FF2B5EF4-FFF2-40B4-BE49-F238E27FC236}">
                <a16:creationId xmlns:a16="http://schemas.microsoft.com/office/drawing/2014/main" id="{9C834B5E-B948-44AE-8376-77847F1ABB99}"/>
              </a:ext>
            </a:extLst>
          </p:cNvPr>
          <p:cNvSpPr/>
          <p:nvPr/>
        </p:nvSpPr>
        <p:spPr>
          <a:xfrm>
            <a:off x="8651327" y="1486911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Name</a:t>
            </a: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string</a:t>
            </a:r>
          </a:p>
        </p:txBody>
      </p:sp>
      <p:sp>
        <p:nvSpPr>
          <p:cNvPr id="16" name="!!Languages">
            <a:extLst>
              <a:ext uri="{FF2B5EF4-FFF2-40B4-BE49-F238E27FC236}">
                <a16:creationId xmlns:a16="http://schemas.microsoft.com/office/drawing/2014/main" id="{3A0A13B2-44D4-4B94-B5D6-E7F653C280A1}"/>
              </a:ext>
            </a:extLst>
          </p:cNvPr>
          <p:cNvSpPr/>
          <p:nvPr/>
        </p:nvSpPr>
        <p:spPr>
          <a:xfrm>
            <a:off x="8447668" y="3149541"/>
            <a:ext cx="2506436" cy="1834291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44000" rtlCol="0" anchor="t"/>
          <a:lstStyle/>
          <a:p>
            <a:r>
              <a:rPr lang="nl-NL" sz="2400" dirty="0">
                <a:solidFill>
                  <a:schemeClr val="tx1"/>
                </a:solidFill>
              </a:rPr>
              <a:t>Language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6EA62982-D2AD-413B-BBC3-864FA7C86398}"/>
              </a:ext>
            </a:extLst>
          </p:cNvPr>
          <p:cNvSpPr/>
          <p:nvPr/>
        </p:nvSpPr>
        <p:spPr>
          <a:xfrm>
            <a:off x="8651327" y="3845457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Name</a:t>
            </a: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string</a:t>
            </a:r>
          </a:p>
        </p:txBody>
      </p:sp>
    </p:spTree>
    <p:extLst>
      <p:ext uri="{BB962C8B-B14F-4D97-AF65-F5344CB8AC3E}">
        <p14:creationId xmlns:p14="http://schemas.microsoft.com/office/powerpoint/2010/main" val="2867764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1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C159370F-922F-4C10-AE01-B8F6180695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7</a:t>
            </a:fld>
            <a:endParaRPr lang="nl-NL"/>
          </a:p>
        </p:txBody>
      </p:sp>
      <p:sp>
        <p:nvSpPr>
          <p:cNvPr id="13" name="!!Movies">
            <a:extLst>
              <a:ext uri="{FF2B5EF4-FFF2-40B4-BE49-F238E27FC236}">
                <a16:creationId xmlns:a16="http://schemas.microsoft.com/office/drawing/2014/main" id="{8FAD00DD-3339-4D1E-8614-F9DDB4FA37BB}"/>
              </a:ext>
            </a:extLst>
          </p:cNvPr>
          <p:cNvSpPr/>
          <p:nvPr/>
        </p:nvSpPr>
        <p:spPr>
          <a:xfrm>
            <a:off x="1089226" y="1354016"/>
            <a:ext cx="2655107" cy="3843825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44000" rtlCol="0" anchor="t"/>
          <a:lstStyle/>
          <a:p>
            <a:r>
              <a:rPr lang="nl-NL" sz="2400" dirty="0">
                <a:solidFill>
                  <a:schemeClr val="tx1"/>
                </a:solidFill>
              </a:rPr>
              <a:t>Movie</a:t>
            </a:r>
          </a:p>
          <a:p>
            <a:endParaRPr lang="nl-NL" sz="24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string	</a:t>
            </a:r>
            <a:r>
              <a:rPr lang="nl-NL" dirty="0" err="1">
                <a:solidFill>
                  <a:schemeClr val="tx1"/>
                </a:solidFill>
              </a:rPr>
              <a:t>Title</a:t>
            </a:r>
            <a:endParaRPr lang="nl-NL" sz="12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string	</a:t>
            </a:r>
            <a:r>
              <a:rPr lang="nl-NL" dirty="0">
                <a:solidFill>
                  <a:schemeClr val="tx1"/>
                </a:solidFill>
              </a:rPr>
              <a:t>Rating</a:t>
            </a:r>
            <a:endParaRPr lang="nl-NL" sz="12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integer	</a:t>
            </a:r>
            <a:r>
              <a:rPr lang="nl-NL" dirty="0" err="1">
                <a:solidFill>
                  <a:schemeClr val="tx1"/>
                </a:solidFill>
              </a:rPr>
              <a:t>Year</a:t>
            </a:r>
            <a:endParaRPr lang="nl-NL" sz="12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string	</a:t>
            </a:r>
            <a:r>
              <a:rPr lang="nl-NL" dirty="0" err="1">
                <a:solidFill>
                  <a:schemeClr val="tx1"/>
                </a:solidFill>
              </a:rPr>
              <a:t>Description</a:t>
            </a:r>
            <a:endParaRPr lang="nl-NL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integer	</a:t>
            </a:r>
            <a:r>
              <a:rPr lang="nl-NL" dirty="0" err="1">
                <a:solidFill>
                  <a:schemeClr val="tx1"/>
                </a:solidFill>
              </a:rPr>
              <a:t>Votes</a:t>
            </a:r>
            <a:endParaRPr lang="nl-NL" sz="1200" dirty="0">
              <a:solidFill>
                <a:schemeClr val="tx1"/>
              </a:solidFill>
            </a:endParaRPr>
          </a:p>
          <a:p>
            <a:r>
              <a:rPr lang="nl-NL" sz="1200" dirty="0" err="1">
                <a:solidFill>
                  <a:schemeClr val="tx1"/>
                </a:solidFill>
              </a:rPr>
              <a:t>float</a:t>
            </a:r>
            <a:r>
              <a:rPr lang="nl-NL" sz="1200" dirty="0">
                <a:solidFill>
                  <a:schemeClr val="tx1"/>
                </a:solidFill>
              </a:rPr>
              <a:t>	</a:t>
            </a:r>
            <a:r>
              <a:rPr lang="nl-NL" dirty="0">
                <a:solidFill>
                  <a:schemeClr val="tx1"/>
                </a:solidFill>
              </a:rPr>
              <a:t>User Rating</a:t>
            </a:r>
            <a:endParaRPr lang="nl-NL" sz="12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integer</a:t>
            </a:r>
            <a:r>
              <a:rPr lang="nl-NL" sz="1000" dirty="0">
                <a:solidFill>
                  <a:schemeClr val="tx1"/>
                </a:solidFill>
              </a:rPr>
              <a:t>	</a:t>
            </a:r>
            <a:r>
              <a:rPr lang="nl-NL" dirty="0">
                <a:solidFill>
                  <a:schemeClr val="tx1"/>
                </a:solidFill>
              </a:rPr>
              <a:t>Metascore</a:t>
            </a:r>
            <a:endParaRPr lang="nl-NL" sz="12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[Language]	</a:t>
            </a:r>
            <a:r>
              <a:rPr lang="nl-NL" dirty="0" err="1">
                <a:solidFill>
                  <a:schemeClr val="tx1"/>
                </a:solidFill>
              </a:rPr>
              <a:t>Languages</a:t>
            </a:r>
            <a:endParaRPr lang="nl-NL" sz="12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[Actor]	</a:t>
            </a:r>
            <a:r>
              <a:rPr lang="nl-NL" dirty="0">
                <a:solidFill>
                  <a:schemeClr val="tx1"/>
                </a:solidFill>
              </a:rPr>
              <a:t>Actors</a:t>
            </a:r>
            <a:endParaRPr lang="nl-NL" sz="12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string	</a:t>
            </a:r>
            <a:r>
              <a:rPr lang="nl-NL" dirty="0" err="1">
                <a:solidFill>
                  <a:schemeClr val="tx1"/>
                </a:solidFill>
              </a:rPr>
              <a:t>IMDb</a:t>
            </a:r>
            <a:r>
              <a:rPr lang="nl-NL" dirty="0">
                <a:solidFill>
                  <a:schemeClr val="tx1"/>
                </a:solidFill>
              </a:rPr>
              <a:t> URL</a:t>
            </a:r>
            <a:endParaRPr lang="nl-NL" sz="1200" dirty="0">
              <a:solidFill>
                <a:schemeClr val="tx1"/>
              </a:solidFill>
            </a:endParaRPr>
          </a:p>
        </p:txBody>
      </p:sp>
      <p:sp>
        <p:nvSpPr>
          <p:cNvPr id="14" name="!!Actors">
            <a:extLst>
              <a:ext uri="{FF2B5EF4-FFF2-40B4-BE49-F238E27FC236}">
                <a16:creationId xmlns:a16="http://schemas.microsoft.com/office/drawing/2014/main" id="{56E8E2B7-653D-4D84-9489-E0FE56F5E2A8}"/>
              </a:ext>
            </a:extLst>
          </p:cNvPr>
          <p:cNvSpPr/>
          <p:nvPr/>
        </p:nvSpPr>
        <p:spPr>
          <a:xfrm>
            <a:off x="8447668" y="1354016"/>
            <a:ext cx="2506436" cy="148453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44000" rtlCol="0" anchor="t"/>
          <a:lstStyle/>
          <a:p>
            <a:r>
              <a:rPr lang="nl-NL" sz="2400" dirty="0">
                <a:solidFill>
                  <a:schemeClr val="tx1"/>
                </a:solidFill>
              </a:rPr>
              <a:t>Actor</a:t>
            </a:r>
          </a:p>
          <a:p>
            <a:endParaRPr lang="nl-NL" sz="24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string	</a:t>
            </a:r>
            <a:r>
              <a:rPr lang="nl-NL" dirty="0">
                <a:solidFill>
                  <a:schemeClr val="tx1"/>
                </a:solidFill>
              </a:rPr>
              <a:t>Name</a:t>
            </a:r>
            <a:endParaRPr lang="nl-NL" sz="1200" dirty="0">
              <a:solidFill>
                <a:schemeClr val="tx1"/>
              </a:solidFill>
            </a:endParaRPr>
          </a:p>
        </p:txBody>
      </p:sp>
      <p:sp>
        <p:nvSpPr>
          <p:cNvPr id="16" name="!!Languages">
            <a:extLst>
              <a:ext uri="{FF2B5EF4-FFF2-40B4-BE49-F238E27FC236}">
                <a16:creationId xmlns:a16="http://schemas.microsoft.com/office/drawing/2014/main" id="{3A0A13B2-44D4-4B94-B5D6-E7F653C280A1}"/>
              </a:ext>
            </a:extLst>
          </p:cNvPr>
          <p:cNvSpPr/>
          <p:nvPr/>
        </p:nvSpPr>
        <p:spPr>
          <a:xfrm>
            <a:off x="8447668" y="3713307"/>
            <a:ext cx="2506436" cy="148453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44000" rtlCol="0" anchor="t"/>
          <a:lstStyle/>
          <a:p>
            <a:r>
              <a:rPr lang="nl-NL" sz="2400" dirty="0">
                <a:solidFill>
                  <a:schemeClr val="tx1"/>
                </a:solidFill>
              </a:rPr>
              <a:t>Language</a:t>
            </a:r>
          </a:p>
          <a:p>
            <a:endParaRPr lang="nl-NL" sz="24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string</a:t>
            </a:r>
            <a:r>
              <a:rPr lang="nl-NL" sz="2400" dirty="0">
                <a:solidFill>
                  <a:schemeClr val="tx1"/>
                </a:solidFill>
              </a:rPr>
              <a:t>	</a:t>
            </a:r>
            <a:r>
              <a:rPr lang="nl-NL" dirty="0">
                <a:solidFill>
                  <a:schemeClr val="tx1"/>
                </a:solidFill>
              </a:rPr>
              <a:t>Name</a:t>
            </a:r>
            <a:endParaRPr lang="nl-NL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4877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Word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1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C159370F-922F-4C10-AE01-B8F6180695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8</a:t>
            </a:fld>
            <a:endParaRPr lang="nl-NL"/>
          </a:p>
        </p:txBody>
      </p:sp>
      <p:sp>
        <p:nvSpPr>
          <p:cNvPr id="13" name="!!Movies">
            <a:extLst>
              <a:ext uri="{FF2B5EF4-FFF2-40B4-BE49-F238E27FC236}">
                <a16:creationId xmlns:a16="http://schemas.microsoft.com/office/drawing/2014/main" id="{8FAD00DD-3339-4D1E-8614-F9DDB4FA37BB}"/>
              </a:ext>
            </a:extLst>
          </p:cNvPr>
          <p:cNvSpPr/>
          <p:nvPr/>
        </p:nvSpPr>
        <p:spPr>
          <a:xfrm>
            <a:off x="1089226" y="1343545"/>
            <a:ext cx="3070945" cy="4181246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44000" rtlCol="0" anchor="t"/>
          <a:lstStyle/>
          <a:p>
            <a:r>
              <a:rPr lang="nl-NL" sz="2400" dirty="0">
                <a:solidFill>
                  <a:schemeClr val="tx1"/>
                </a:solidFill>
              </a:rPr>
              <a:t>movie</a:t>
            </a:r>
          </a:p>
          <a:p>
            <a:endParaRPr lang="nl-NL" sz="24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string	</a:t>
            </a:r>
            <a:r>
              <a:rPr lang="nl-NL" dirty="0" err="1">
                <a:solidFill>
                  <a:schemeClr val="tx1"/>
                </a:solidFill>
              </a:rPr>
              <a:t>title</a:t>
            </a:r>
            <a:endParaRPr lang="nl-NL" sz="12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string	</a:t>
            </a:r>
            <a:r>
              <a:rPr lang="nl-NL" dirty="0">
                <a:solidFill>
                  <a:schemeClr val="tx1"/>
                </a:solidFill>
              </a:rPr>
              <a:t>rating</a:t>
            </a:r>
            <a:endParaRPr lang="nl-NL" sz="12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integer	</a:t>
            </a:r>
            <a:r>
              <a:rPr lang="nl-NL" dirty="0" err="1">
                <a:solidFill>
                  <a:schemeClr val="tx1"/>
                </a:solidFill>
              </a:rPr>
              <a:t>year</a:t>
            </a:r>
            <a:endParaRPr lang="nl-NL" sz="12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string	</a:t>
            </a:r>
            <a:r>
              <a:rPr lang="nl-NL" dirty="0" err="1">
                <a:solidFill>
                  <a:schemeClr val="tx1"/>
                </a:solidFill>
              </a:rPr>
              <a:t>description</a:t>
            </a:r>
            <a:endParaRPr lang="nl-NL" sz="12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integer	</a:t>
            </a:r>
            <a:r>
              <a:rPr lang="nl-NL" dirty="0" err="1">
                <a:solidFill>
                  <a:schemeClr val="tx1"/>
                </a:solidFill>
              </a:rPr>
              <a:t>review_user_count</a:t>
            </a:r>
            <a:endParaRPr lang="nl-NL" sz="1200" dirty="0">
              <a:solidFill>
                <a:schemeClr val="tx1"/>
              </a:solidFill>
            </a:endParaRPr>
          </a:p>
          <a:p>
            <a:r>
              <a:rPr lang="nl-NL" sz="1200" dirty="0" err="1">
                <a:solidFill>
                  <a:schemeClr val="tx1"/>
                </a:solidFill>
              </a:rPr>
              <a:t>float</a:t>
            </a:r>
            <a:r>
              <a:rPr lang="nl-NL" sz="1200" dirty="0">
                <a:solidFill>
                  <a:schemeClr val="tx1"/>
                </a:solidFill>
              </a:rPr>
              <a:t>	</a:t>
            </a:r>
            <a:r>
              <a:rPr lang="nl-NL" dirty="0" err="1">
                <a:solidFill>
                  <a:schemeClr val="tx1"/>
                </a:solidFill>
              </a:rPr>
              <a:t>review_user</a:t>
            </a:r>
            <a:endParaRPr lang="nl-NL" sz="12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integer	</a:t>
            </a:r>
            <a:r>
              <a:rPr lang="nl-NL" dirty="0" err="1">
                <a:solidFill>
                  <a:schemeClr val="tx1"/>
                </a:solidFill>
              </a:rPr>
              <a:t>review_metascore</a:t>
            </a:r>
            <a:endParaRPr lang="nl-NL" sz="10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[Language]	</a:t>
            </a:r>
            <a:r>
              <a:rPr lang="nl-NL" dirty="0" err="1">
                <a:solidFill>
                  <a:schemeClr val="tx1"/>
                </a:solidFill>
              </a:rPr>
              <a:t>Languages</a:t>
            </a:r>
            <a:endParaRPr lang="nl-NL" sz="12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[Actor]	</a:t>
            </a:r>
            <a:r>
              <a:rPr lang="nl-NL" dirty="0">
                <a:solidFill>
                  <a:schemeClr val="tx1"/>
                </a:solidFill>
              </a:rPr>
              <a:t>Actors</a:t>
            </a:r>
            <a:endParaRPr lang="nl-NL" sz="12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string	</a:t>
            </a:r>
            <a:r>
              <a:rPr lang="nl-NL" dirty="0" err="1">
                <a:solidFill>
                  <a:schemeClr val="tx1"/>
                </a:solidFill>
              </a:rPr>
              <a:t>imdb_url</a:t>
            </a:r>
            <a:endParaRPr lang="nl-NL" sz="1200" dirty="0">
              <a:solidFill>
                <a:schemeClr val="tx1"/>
              </a:solidFill>
            </a:endParaRPr>
          </a:p>
        </p:txBody>
      </p:sp>
      <p:sp>
        <p:nvSpPr>
          <p:cNvPr id="14" name="!!Actors">
            <a:extLst>
              <a:ext uri="{FF2B5EF4-FFF2-40B4-BE49-F238E27FC236}">
                <a16:creationId xmlns:a16="http://schemas.microsoft.com/office/drawing/2014/main" id="{56E8E2B7-653D-4D84-9489-E0FE56F5E2A8}"/>
              </a:ext>
            </a:extLst>
          </p:cNvPr>
          <p:cNvSpPr/>
          <p:nvPr/>
        </p:nvSpPr>
        <p:spPr>
          <a:xfrm>
            <a:off x="8447668" y="1343545"/>
            <a:ext cx="2506436" cy="1675370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44000" rtlCol="0" anchor="t"/>
          <a:lstStyle/>
          <a:p>
            <a:r>
              <a:rPr lang="nl-NL" sz="2400" dirty="0">
                <a:solidFill>
                  <a:schemeClr val="tx1"/>
                </a:solidFill>
              </a:rPr>
              <a:t>actor</a:t>
            </a:r>
          </a:p>
          <a:p>
            <a:endParaRPr lang="nl-NL" sz="24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light"/>
                <a:ea typeface="+mn-ea"/>
                <a:cs typeface="+mn-cs"/>
              </a:rPr>
              <a:t>string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light"/>
                <a:ea typeface="+mn-ea"/>
                <a:cs typeface="+mn-cs"/>
              </a:rPr>
              <a:t>	name</a:t>
            </a:r>
            <a:endParaRPr kumimoji="0" lang="nl-NL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6" name="!!Languages">
            <a:extLst>
              <a:ext uri="{FF2B5EF4-FFF2-40B4-BE49-F238E27FC236}">
                <a16:creationId xmlns:a16="http://schemas.microsoft.com/office/drawing/2014/main" id="{3A0A13B2-44D4-4B94-B5D6-E7F653C280A1}"/>
              </a:ext>
            </a:extLst>
          </p:cNvPr>
          <p:cNvSpPr/>
          <p:nvPr/>
        </p:nvSpPr>
        <p:spPr>
          <a:xfrm>
            <a:off x="8447668" y="3849420"/>
            <a:ext cx="2506436" cy="1675371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44000" rtlCol="0" anchor="t"/>
          <a:lstStyle/>
          <a:p>
            <a:r>
              <a:rPr lang="nl-NL" sz="2400" dirty="0" err="1">
                <a:solidFill>
                  <a:schemeClr val="tx1"/>
                </a:solidFill>
              </a:rPr>
              <a:t>language</a:t>
            </a:r>
            <a:endParaRPr lang="nl-NL" sz="2400" dirty="0">
              <a:solidFill>
                <a:schemeClr val="tx1"/>
              </a:solidFill>
            </a:endParaRPr>
          </a:p>
          <a:p>
            <a:endParaRPr lang="nl-NL" sz="24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string</a:t>
            </a:r>
            <a:r>
              <a:rPr lang="nl-NL" dirty="0">
                <a:solidFill>
                  <a:schemeClr val="tx1"/>
                </a:solidFill>
              </a:rPr>
              <a:t>	name</a:t>
            </a:r>
            <a:endParaRPr lang="nl-NL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81148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Word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1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C159370F-922F-4C10-AE01-B8F6180695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9</a:t>
            </a:fld>
            <a:endParaRPr lang="nl-NL"/>
          </a:p>
        </p:txBody>
      </p:sp>
      <p:sp>
        <p:nvSpPr>
          <p:cNvPr id="13" name="!!Movies">
            <a:extLst>
              <a:ext uri="{FF2B5EF4-FFF2-40B4-BE49-F238E27FC236}">
                <a16:creationId xmlns:a16="http://schemas.microsoft.com/office/drawing/2014/main" id="{8FAD00DD-3339-4D1E-8614-F9DDB4FA37BB}"/>
              </a:ext>
            </a:extLst>
          </p:cNvPr>
          <p:cNvSpPr/>
          <p:nvPr/>
        </p:nvSpPr>
        <p:spPr>
          <a:xfrm>
            <a:off x="1089226" y="1343545"/>
            <a:ext cx="3070945" cy="4181246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44000" rtlCol="0" anchor="t"/>
          <a:lstStyle/>
          <a:p>
            <a:r>
              <a:rPr lang="nl-NL" sz="2400" dirty="0">
                <a:solidFill>
                  <a:schemeClr val="tx1"/>
                </a:solidFill>
              </a:rPr>
              <a:t>movie</a:t>
            </a:r>
          </a:p>
          <a:p>
            <a:endParaRPr lang="nl-NL" sz="24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integer	</a:t>
            </a:r>
            <a:r>
              <a:rPr lang="nl-NL" dirty="0" err="1">
                <a:solidFill>
                  <a:schemeClr val="tx1"/>
                </a:solidFill>
              </a:rPr>
              <a:t>id</a:t>
            </a:r>
            <a:endParaRPr lang="nl-NL" sz="12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string	</a:t>
            </a:r>
            <a:r>
              <a:rPr lang="nl-NL" dirty="0" err="1">
                <a:solidFill>
                  <a:schemeClr val="tx1"/>
                </a:solidFill>
              </a:rPr>
              <a:t>title</a:t>
            </a:r>
            <a:endParaRPr lang="nl-NL" sz="12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string	</a:t>
            </a:r>
            <a:r>
              <a:rPr lang="nl-NL" dirty="0">
                <a:solidFill>
                  <a:schemeClr val="tx1"/>
                </a:solidFill>
              </a:rPr>
              <a:t>rating</a:t>
            </a:r>
            <a:endParaRPr lang="nl-NL" sz="12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integer	</a:t>
            </a:r>
            <a:r>
              <a:rPr lang="nl-NL" dirty="0" err="1">
                <a:solidFill>
                  <a:schemeClr val="tx1"/>
                </a:solidFill>
              </a:rPr>
              <a:t>year</a:t>
            </a:r>
            <a:endParaRPr lang="nl-NL" sz="12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string	</a:t>
            </a:r>
            <a:r>
              <a:rPr lang="nl-NL" dirty="0" err="1">
                <a:solidFill>
                  <a:schemeClr val="tx1"/>
                </a:solidFill>
              </a:rPr>
              <a:t>description</a:t>
            </a:r>
            <a:endParaRPr lang="nl-NL" sz="12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integer	</a:t>
            </a:r>
            <a:r>
              <a:rPr lang="nl-NL" dirty="0" err="1">
                <a:solidFill>
                  <a:schemeClr val="tx1"/>
                </a:solidFill>
              </a:rPr>
              <a:t>review_user_count</a:t>
            </a:r>
            <a:endParaRPr lang="nl-NL" sz="1200" dirty="0">
              <a:solidFill>
                <a:schemeClr val="tx1"/>
              </a:solidFill>
            </a:endParaRPr>
          </a:p>
          <a:p>
            <a:r>
              <a:rPr lang="nl-NL" sz="1200" dirty="0" err="1">
                <a:solidFill>
                  <a:schemeClr val="tx1"/>
                </a:solidFill>
              </a:rPr>
              <a:t>float</a:t>
            </a:r>
            <a:r>
              <a:rPr lang="nl-NL" sz="1200" dirty="0">
                <a:solidFill>
                  <a:schemeClr val="tx1"/>
                </a:solidFill>
              </a:rPr>
              <a:t>	</a:t>
            </a:r>
            <a:r>
              <a:rPr lang="nl-NL" dirty="0" err="1">
                <a:solidFill>
                  <a:schemeClr val="tx1"/>
                </a:solidFill>
              </a:rPr>
              <a:t>review_user</a:t>
            </a:r>
            <a:endParaRPr lang="nl-NL" sz="12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integer	</a:t>
            </a:r>
            <a:r>
              <a:rPr lang="nl-NL" dirty="0" err="1">
                <a:solidFill>
                  <a:schemeClr val="tx1"/>
                </a:solidFill>
              </a:rPr>
              <a:t>review_metascore</a:t>
            </a:r>
            <a:endParaRPr lang="nl-NL" sz="10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[Language]	</a:t>
            </a:r>
            <a:r>
              <a:rPr lang="nl-NL" dirty="0" err="1">
                <a:solidFill>
                  <a:schemeClr val="tx1"/>
                </a:solidFill>
              </a:rPr>
              <a:t>Languages</a:t>
            </a:r>
            <a:endParaRPr lang="nl-NL" sz="12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[Actor]	</a:t>
            </a:r>
            <a:r>
              <a:rPr lang="nl-NL" dirty="0">
                <a:solidFill>
                  <a:schemeClr val="tx1"/>
                </a:solidFill>
              </a:rPr>
              <a:t>Actors</a:t>
            </a:r>
            <a:endParaRPr lang="nl-NL" sz="12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string	</a:t>
            </a:r>
            <a:r>
              <a:rPr lang="nl-NL" dirty="0" err="1">
                <a:solidFill>
                  <a:schemeClr val="tx1"/>
                </a:solidFill>
              </a:rPr>
              <a:t>imdb_url</a:t>
            </a:r>
            <a:endParaRPr lang="nl-NL" sz="1200" dirty="0">
              <a:solidFill>
                <a:schemeClr val="tx1"/>
              </a:solidFill>
            </a:endParaRPr>
          </a:p>
        </p:txBody>
      </p:sp>
      <p:sp>
        <p:nvSpPr>
          <p:cNvPr id="14" name="!!Actors">
            <a:extLst>
              <a:ext uri="{FF2B5EF4-FFF2-40B4-BE49-F238E27FC236}">
                <a16:creationId xmlns:a16="http://schemas.microsoft.com/office/drawing/2014/main" id="{56E8E2B7-653D-4D84-9489-E0FE56F5E2A8}"/>
              </a:ext>
            </a:extLst>
          </p:cNvPr>
          <p:cNvSpPr/>
          <p:nvPr/>
        </p:nvSpPr>
        <p:spPr>
          <a:xfrm>
            <a:off x="8447668" y="1343545"/>
            <a:ext cx="2506436" cy="1675370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44000" rtlCol="0" anchor="t"/>
          <a:lstStyle/>
          <a:p>
            <a:r>
              <a:rPr lang="nl-NL" sz="2400" dirty="0">
                <a:solidFill>
                  <a:schemeClr val="tx1"/>
                </a:solidFill>
              </a:rPr>
              <a:t>actor</a:t>
            </a:r>
          </a:p>
          <a:p>
            <a:endParaRPr lang="nl-NL" sz="24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light"/>
                <a:ea typeface="+mn-ea"/>
                <a:cs typeface="+mn-cs"/>
              </a:rPr>
              <a:t>integer	</a:t>
            </a:r>
            <a:r>
              <a:rPr kumimoji="0" lang="nl-N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light"/>
                <a:ea typeface="+mn-ea"/>
                <a:cs typeface="+mn-cs"/>
              </a:rPr>
              <a:t>id</a:t>
            </a:r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light"/>
                <a:ea typeface="+mn-ea"/>
                <a:cs typeface="+mn-cs"/>
              </a:rPr>
              <a:t>string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light"/>
                <a:ea typeface="+mn-ea"/>
                <a:cs typeface="+mn-cs"/>
              </a:rPr>
              <a:t>	name</a:t>
            </a:r>
            <a:endParaRPr kumimoji="0" lang="nl-NL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6" name="!!Languages">
            <a:extLst>
              <a:ext uri="{FF2B5EF4-FFF2-40B4-BE49-F238E27FC236}">
                <a16:creationId xmlns:a16="http://schemas.microsoft.com/office/drawing/2014/main" id="{3A0A13B2-44D4-4B94-B5D6-E7F653C280A1}"/>
              </a:ext>
            </a:extLst>
          </p:cNvPr>
          <p:cNvSpPr/>
          <p:nvPr/>
        </p:nvSpPr>
        <p:spPr>
          <a:xfrm>
            <a:off x="8447668" y="3849420"/>
            <a:ext cx="2506436" cy="1675371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44000" rtlCol="0" anchor="t"/>
          <a:lstStyle/>
          <a:p>
            <a:r>
              <a:rPr lang="nl-NL" sz="2400" dirty="0" err="1">
                <a:solidFill>
                  <a:schemeClr val="tx1"/>
                </a:solidFill>
              </a:rPr>
              <a:t>language</a:t>
            </a:r>
            <a:endParaRPr lang="nl-NL" sz="2400" dirty="0">
              <a:solidFill>
                <a:schemeClr val="tx1"/>
              </a:solidFill>
            </a:endParaRPr>
          </a:p>
          <a:p>
            <a:endParaRPr lang="nl-NL" sz="24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integer	</a:t>
            </a:r>
            <a:r>
              <a:rPr lang="nl-NL" dirty="0" err="1">
                <a:solidFill>
                  <a:schemeClr val="tx1"/>
                </a:solidFill>
              </a:rPr>
              <a:t>id</a:t>
            </a:r>
            <a:endParaRPr lang="nl-NL" sz="12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string</a:t>
            </a:r>
            <a:r>
              <a:rPr lang="nl-NL" dirty="0">
                <a:solidFill>
                  <a:schemeClr val="tx1"/>
                </a:solidFill>
              </a:rPr>
              <a:t>	name</a:t>
            </a:r>
            <a:endParaRPr lang="nl-NL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16010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Word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1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C159370F-922F-4C10-AE01-B8F6180695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10</a:t>
            </a:fld>
            <a:endParaRPr lang="nl-NL"/>
          </a:p>
        </p:txBody>
      </p:sp>
      <p:sp>
        <p:nvSpPr>
          <p:cNvPr id="13" name="!!Movies">
            <a:extLst>
              <a:ext uri="{FF2B5EF4-FFF2-40B4-BE49-F238E27FC236}">
                <a16:creationId xmlns:a16="http://schemas.microsoft.com/office/drawing/2014/main" id="{8FAD00DD-3339-4D1E-8614-F9DDB4FA37BB}"/>
              </a:ext>
            </a:extLst>
          </p:cNvPr>
          <p:cNvSpPr/>
          <p:nvPr/>
        </p:nvSpPr>
        <p:spPr>
          <a:xfrm>
            <a:off x="1089226" y="1343545"/>
            <a:ext cx="3070945" cy="4181246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44000" rtlCol="0" anchor="t"/>
          <a:lstStyle/>
          <a:p>
            <a:r>
              <a:rPr lang="nl-NL" sz="2400" dirty="0">
                <a:solidFill>
                  <a:schemeClr val="tx1"/>
                </a:solidFill>
              </a:rPr>
              <a:t>movie</a:t>
            </a:r>
          </a:p>
          <a:p>
            <a:endParaRPr lang="nl-NL" sz="24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integer	</a:t>
            </a:r>
            <a:r>
              <a:rPr lang="nl-NL" dirty="0" err="1">
                <a:solidFill>
                  <a:schemeClr val="tx1"/>
                </a:solidFill>
              </a:rPr>
              <a:t>id</a:t>
            </a:r>
            <a:endParaRPr lang="nl-NL" sz="12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string	</a:t>
            </a:r>
            <a:r>
              <a:rPr lang="nl-NL" dirty="0" err="1">
                <a:solidFill>
                  <a:schemeClr val="tx1"/>
                </a:solidFill>
              </a:rPr>
              <a:t>title</a:t>
            </a:r>
            <a:endParaRPr lang="nl-NL" sz="12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string	</a:t>
            </a:r>
            <a:r>
              <a:rPr lang="nl-NL" dirty="0">
                <a:solidFill>
                  <a:schemeClr val="tx1"/>
                </a:solidFill>
              </a:rPr>
              <a:t>rating</a:t>
            </a:r>
            <a:endParaRPr lang="nl-NL" sz="12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integer	</a:t>
            </a:r>
            <a:r>
              <a:rPr lang="nl-NL" dirty="0" err="1">
                <a:solidFill>
                  <a:schemeClr val="tx1"/>
                </a:solidFill>
              </a:rPr>
              <a:t>year</a:t>
            </a:r>
            <a:endParaRPr lang="nl-NL" sz="12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string	</a:t>
            </a:r>
            <a:r>
              <a:rPr lang="nl-NL" dirty="0" err="1">
                <a:solidFill>
                  <a:schemeClr val="tx1"/>
                </a:solidFill>
              </a:rPr>
              <a:t>description</a:t>
            </a:r>
            <a:endParaRPr lang="nl-NL" sz="12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integer	</a:t>
            </a:r>
            <a:r>
              <a:rPr lang="nl-NL" dirty="0" err="1">
                <a:solidFill>
                  <a:schemeClr val="tx1"/>
                </a:solidFill>
              </a:rPr>
              <a:t>review_user_count</a:t>
            </a:r>
            <a:endParaRPr lang="nl-NL" sz="1200" dirty="0">
              <a:solidFill>
                <a:schemeClr val="tx1"/>
              </a:solidFill>
            </a:endParaRPr>
          </a:p>
          <a:p>
            <a:r>
              <a:rPr lang="nl-NL" sz="1200" dirty="0" err="1">
                <a:solidFill>
                  <a:schemeClr val="tx1"/>
                </a:solidFill>
              </a:rPr>
              <a:t>float</a:t>
            </a:r>
            <a:r>
              <a:rPr lang="nl-NL" sz="1200" dirty="0">
                <a:solidFill>
                  <a:schemeClr val="tx1"/>
                </a:solidFill>
              </a:rPr>
              <a:t>	</a:t>
            </a:r>
            <a:r>
              <a:rPr lang="nl-NL" dirty="0" err="1">
                <a:solidFill>
                  <a:schemeClr val="tx1"/>
                </a:solidFill>
              </a:rPr>
              <a:t>review_user</a:t>
            </a:r>
            <a:endParaRPr lang="nl-NL" sz="12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integer	</a:t>
            </a:r>
            <a:r>
              <a:rPr lang="nl-NL" dirty="0" err="1">
                <a:solidFill>
                  <a:schemeClr val="tx1"/>
                </a:solidFill>
              </a:rPr>
              <a:t>review_metascore</a:t>
            </a:r>
            <a:endParaRPr lang="nl-NL" sz="10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string	</a:t>
            </a:r>
            <a:r>
              <a:rPr lang="nl-NL" dirty="0" err="1">
                <a:solidFill>
                  <a:schemeClr val="tx1"/>
                </a:solidFill>
              </a:rPr>
              <a:t>imdb_url</a:t>
            </a:r>
            <a:endParaRPr lang="nl-NL" sz="1200" dirty="0">
              <a:solidFill>
                <a:schemeClr val="tx1"/>
              </a:solidFill>
            </a:endParaRPr>
          </a:p>
        </p:txBody>
      </p:sp>
      <p:sp>
        <p:nvSpPr>
          <p:cNvPr id="14" name="!!Actors">
            <a:extLst>
              <a:ext uri="{FF2B5EF4-FFF2-40B4-BE49-F238E27FC236}">
                <a16:creationId xmlns:a16="http://schemas.microsoft.com/office/drawing/2014/main" id="{56E8E2B7-653D-4D84-9489-E0FE56F5E2A8}"/>
              </a:ext>
            </a:extLst>
          </p:cNvPr>
          <p:cNvSpPr/>
          <p:nvPr/>
        </p:nvSpPr>
        <p:spPr>
          <a:xfrm>
            <a:off x="8447668" y="1343545"/>
            <a:ext cx="2506436" cy="1675370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44000" rtlCol="0" anchor="t"/>
          <a:lstStyle/>
          <a:p>
            <a:r>
              <a:rPr lang="nl-NL" sz="2400" dirty="0">
                <a:solidFill>
                  <a:schemeClr val="tx1"/>
                </a:solidFill>
              </a:rPr>
              <a:t>actor</a:t>
            </a:r>
          </a:p>
          <a:p>
            <a:endParaRPr lang="nl-NL" sz="24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light"/>
                <a:ea typeface="+mn-ea"/>
                <a:cs typeface="+mn-cs"/>
              </a:rPr>
              <a:t>integer	</a:t>
            </a:r>
            <a:r>
              <a:rPr kumimoji="0" lang="nl-N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light"/>
                <a:ea typeface="+mn-ea"/>
                <a:cs typeface="+mn-cs"/>
              </a:rPr>
              <a:t>id</a:t>
            </a:r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light"/>
                <a:ea typeface="+mn-ea"/>
                <a:cs typeface="+mn-cs"/>
              </a:rPr>
              <a:t>string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light"/>
                <a:ea typeface="+mn-ea"/>
                <a:cs typeface="+mn-cs"/>
              </a:rPr>
              <a:t>	name</a:t>
            </a:r>
            <a:endParaRPr kumimoji="0" lang="nl-NL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6" name="!!Languages">
            <a:extLst>
              <a:ext uri="{FF2B5EF4-FFF2-40B4-BE49-F238E27FC236}">
                <a16:creationId xmlns:a16="http://schemas.microsoft.com/office/drawing/2014/main" id="{3A0A13B2-44D4-4B94-B5D6-E7F653C280A1}"/>
              </a:ext>
            </a:extLst>
          </p:cNvPr>
          <p:cNvSpPr/>
          <p:nvPr/>
        </p:nvSpPr>
        <p:spPr>
          <a:xfrm>
            <a:off x="8447668" y="3849420"/>
            <a:ext cx="2506436" cy="1675371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44000" rtlCol="0" anchor="t"/>
          <a:lstStyle/>
          <a:p>
            <a:r>
              <a:rPr lang="nl-NL" sz="2400" dirty="0" err="1">
                <a:solidFill>
                  <a:schemeClr val="tx1"/>
                </a:solidFill>
              </a:rPr>
              <a:t>language</a:t>
            </a:r>
            <a:endParaRPr lang="nl-NL" sz="2400" dirty="0">
              <a:solidFill>
                <a:schemeClr val="tx1"/>
              </a:solidFill>
            </a:endParaRPr>
          </a:p>
          <a:p>
            <a:endParaRPr lang="nl-NL" sz="24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integer	</a:t>
            </a:r>
            <a:r>
              <a:rPr lang="nl-NL" dirty="0" err="1">
                <a:solidFill>
                  <a:schemeClr val="tx1"/>
                </a:solidFill>
              </a:rPr>
              <a:t>id</a:t>
            </a:r>
            <a:endParaRPr lang="nl-NL" sz="1200" dirty="0">
              <a:solidFill>
                <a:schemeClr val="tx1"/>
              </a:solidFill>
            </a:endParaRPr>
          </a:p>
          <a:p>
            <a:r>
              <a:rPr lang="nl-NL" sz="1200" dirty="0">
                <a:solidFill>
                  <a:schemeClr val="tx1"/>
                </a:solidFill>
              </a:rPr>
              <a:t>string</a:t>
            </a:r>
            <a:r>
              <a:rPr lang="nl-NL" dirty="0">
                <a:solidFill>
                  <a:schemeClr val="tx1"/>
                </a:solidFill>
              </a:rPr>
              <a:t>	name</a:t>
            </a:r>
            <a:endParaRPr lang="nl-NL" sz="2000" dirty="0">
              <a:solidFill>
                <a:schemeClr val="tx1"/>
              </a:solidFill>
            </a:endParaRPr>
          </a:p>
        </p:txBody>
      </p:sp>
      <p:sp>
        <p:nvSpPr>
          <p:cNvPr id="6" name="!!MovieActors">
            <a:extLst>
              <a:ext uri="{FF2B5EF4-FFF2-40B4-BE49-F238E27FC236}">
                <a16:creationId xmlns:a16="http://schemas.microsoft.com/office/drawing/2014/main" id="{9B74A222-02CA-4AB5-8493-DE952A703ADA}"/>
              </a:ext>
            </a:extLst>
          </p:cNvPr>
          <p:cNvSpPr/>
          <p:nvPr/>
        </p:nvSpPr>
        <p:spPr>
          <a:xfrm>
            <a:off x="4958776" y="1343545"/>
            <a:ext cx="2690287" cy="1675370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44000" rtlCol="0" anchor="t"/>
          <a:lstStyle/>
          <a:p>
            <a:r>
              <a:rPr lang="nl-NL" sz="2400" dirty="0" err="1">
                <a:solidFill>
                  <a:schemeClr val="tx1"/>
                </a:solidFill>
              </a:rPr>
              <a:t>movie_actors</a:t>
            </a:r>
            <a:endParaRPr lang="nl-NL" sz="2400" dirty="0">
              <a:solidFill>
                <a:schemeClr val="tx1"/>
              </a:solidFill>
            </a:endParaRPr>
          </a:p>
          <a:p>
            <a:endParaRPr lang="nl-NL" sz="24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light"/>
                <a:ea typeface="+mn-ea"/>
                <a:cs typeface="+mn-cs"/>
              </a:rPr>
              <a:t>integer	</a:t>
            </a:r>
            <a:r>
              <a:rPr kumimoji="0" lang="nl-N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light"/>
                <a:ea typeface="+mn-ea"/>
                <a:cs typeface="+mn-cs"/>
              </a:rPr>
              <a:t>movie_id</a:t>
            </a:r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light"/>
                <a:ea typeface="+mn-ea"/>
                <a:cs typeface="+mn-cs"/>
              </a:rPr>
              <a:t>integer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light"/>
                <a:ea typeface="+mn-ea"/>
                <a:cs typeface="+mn-cs"/>
              </a:rPr>
              <a:t>	</a:t>
            </a:r>
            <a:r>
              <a:rPr lang="nl-NL" dirty="0" err="1">
                <a:solidFill>
                  <a:prstClr val="black"/>
                </a:solidFill>
                <a:latin typeface="Segoe UI Semilight"/>
              </a:rPr>
              <a:t>actor_id</a:t>
            </a:r>
            <a:endParaRPr kumimoji="0" lang="nl-NL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7" name="!!MovieLanguages">
            <a:extLst>
              <a:ext uri="{FF2B5EF4-FFF2-40B4-BE49-F238E27FC236}">
                <a16:creationId xmlns:a16="http://schemas.microsoft.com/office/drawing/2014/main" id="{F03D2053-171C-4CEB-9DF0-3D76919C8997}"/>
              </a:ext>
            </a:extLst>
          </p:cNvPr>
          <p:cNvSpPr/>
          <p:nvPr/>
        </p:nvSpPr>
        <p:spPr>
          <a:xfrm>
            <a:off x="4958775" y="3839085"/>
            <a:ext cx="2690288" cy="1675370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44000" rtlCol="0" anchor="t"/>
          <a:lstStyle/>
          <a:p>
            <a:r>
              <a:rPr lang="nl-NL" sz="2400" dirty="0" err="1">
                <a:solidFill>
                  <a:schemeClr val="tx1"/>
                </a:solidFill>
              </a:rPr>
              <a:t>movie_languages</a:t>
            </a:r>
            <a:endParaRPr lang="nl-NL" sz="2400" dirty="0">
              <a:solidFill>
                <a:schemeClr val="tx1"/>
              </a:solidFill>
            </a:endParaRPr>
          </a:p>
          <a:p>
            <a:endParaRPr lang="nl-NL" sz="24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light"/>
                <a:ea typeface="+mn-ea"/>
                <a:cs typeface="+mn-cs"/>
              </a:rPr>
              <a:t>integer	</a:t>
            </a:r>
            <a:r>
              <a:rPr kumimoji="0" lang="nl-N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light"/>
                <a:ea typeface="+mn-ea"/>
                <a:cs typeface="+mn-cs"/>
              </a:rPr>
              <a:t>movie_id</a:t>
            </a:r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light"/>
                <a:ea typeface="+mn-ea"/>
                <a:cs typeface="+mn-cs"/>
              </a:rPr>
              <a:t>integer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light"/>
                <a:ea typeface="+mn-ea"/>
                <a:cs typeface="+mn-cs"/>
              </a:rPr>
              <a:t>	</a:t>
            </a:r>
            <a:r>
              <a:rPr lang="nl-NL" dirty="0" err="1">
                <a:solidFill>
                  <a:prstClr val="black"/>
                </a:solidFill>
                <a:latin typeface="Segoe UI Semilight"/>
              </a:rPr>
              <a:t>language_id</a:t>
            </a:r>
            <a:endParaRPr kumimoji="0" lang="nl-NL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cxnSp>
        <p:nvCxnSpPr>
          <p:cNvPr id="4" name="Rechte verbindingslijn 3">
            <a:extLst>
              <a:ext uri="{FF2B5EF4-FFF2-40B4-BE49-F238E27FC236}">
                <a16:creationId xmlns:a16="http://schemas.microsoft.com/office/drawing/2014/main" id="{681F75BF-F9D3-4204-95EE-6C25EB9EC720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4160171" y="2181230"/>
            <a:ext cx="798605" cy="0"/>
          </a:xfrm>
          <a:prstGeom prst="line">
            <a:avLst/>
          </a:prstGeom>
          <a:ln w="3810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Rechte verbindingslijn 11">
            <a:extLst>
              <a:ext uri="{FF2B5EF4-FFF2-40B4-BE49-F238E27FC236}">
                <a16:creationId xmlns:a16="http://schemas.microsoft.com/office/drawing/2014/main" id="{38A6F511-4299-4D33-936C-DA1CF81A68A4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160171" y="4676770"/>
            <a:ext cx="798604" cy="0"/>
          </a:xfrm>
          <a:prstGeom prst="line">
            <a:avLst/>
          </a:prstGeom>
          <a:ln w="3810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echte verbindingslijn 14">
            <a:extLst>
              <a:ext uri="{FF2B5EF4-FFF2-40B4-BE49-F238E27FC236}">
                <a16:creationId xmlns:a16="http://schemas.microsoft.com/office/drawing/2014/main" id="{21E86083-61A5-4A6E-82BE-4F1929A16D6F}"/>
              </a:ext>
            </a:extLst>
          </p:cNvPr>
          <p:cNvCxnSpPr>
            <a:cxnSpLocks/>
            <a:stCxn id="6" idx="3"/>
            <a:endCxn id="14" idx="1"/>
          </p:cNvCxnSpPr>
          <p:nvPr/>
        </p:nvCxnSpPr>
        <p:spPr>
          <a:xfrm>
            <a:off x="7649063" y="2181230"/>
            <a:ext cx="798605" cy="0"/>
          </a:xfrm>
          <a:prstGeom prst="line">
            <a:avLst/>
          </a:prstGeom>
          <a:ln w="3810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17">
            <a:extLst>
              <a:ext uri="{FF2B5EF4-FFF2-40B4-BE49-F238E27FC236}">
                <a16:creationId xmlns:a16="http://schemas.microsoft.com/office/drawing/2014/main" id="{4817AE0E-6E27-4BE2-A6AF-4C8AF3CB7F28}"/>
              </a:ext>
            </a:extLst>
          </p:cNvPr>
          <p:cNvCxnSpPr>
            <a:cxnSpLocks/>
            <a:stCxn id="7" idx="3"/>
            <a:endCxn id="16" idx="1"/>
          </p:cNvCxnSpPr>
          <p:nvPr/>
        </p:nvCxnSpPr>
        <p:spPr>
          <a:xfrm>
            <a:off x="7649063" y="4676770"/>
            <a:ext cx="798605" cy="10336"/>
          </a:xfrm>
          <a:prstGeom prst="line">
            <a:avLst/>
          </a:prstGeom>
          <a:ln w="3810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kstvak 22">
            <a:extLst>
              <a:ext uri="{FF2B5EF4-FFF2-40B4-BE49-F238E27FC236}">
                <a16:creationId xmlns:a16="http://schemas.microsoft.com/office/drawing/2014/main" id="{5242E10A-D5F4-439E-B31B-6D22E4FFE051}"/>
              </a:ext>
            </a:extLst>
          </p:cNvPr>
          <p:cNvSpPr txBox="1"/>
          <p:nvPr/>
        </p:nvSpPr>
        <p:spPr>
          <a:xfrm>
            <a:off x="4183419" y="1811898"/>
            <a:ext cx="204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1</a:t>
            </a:r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613CEAEB-93D6-45B0-9F71-766566940125}"/>
              </a:ext>
            </a:extLst>
          </p:cNvPr>
          <p:cNvSpPr txBox="1"/>
          <p:nvPr/>
        </p:nvSpPr>
        <p:spPr>
          <a:xfrm>
            <a:off x="4618870" y="1811898"/>
            <a:ext cx="316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N</a:t>
            </a: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0BEB770D-F65B-40D0-9A09-D2A210A5DD2E}"/>
              </a:ext>
            </a:extLst>
          </p:cNvPr>
          <p:cNvSpPr txBox="1"/>
          <p:nvPr/>
        </p:nvSpPr>
        <p:spPr>
          <a:xfrm>
            <a:off x="4183419" y="4307437"/>
            <a:ext cx="204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1</a:t>
            </a:r>
          </a:p>
        </p:txBody>
      </p:sp>
      <p:sp>
        <p:nvSpPr>
          <p:cNvPr id="26" name="Tekstvak 25">
            <a:extLst>
              <a:ext uri="{FF2B5EF4-FFF2-40B4-BE49-F238E27FC236}">
                <a16:creationId xmlns:a16="http://schemas.microsoft.com/office/drawing/2014/main" id="{62289C81-5BB0-453C-9E93-D0C7627F1EC3}"/>
              </a:ext>
            </a:extLst>
          </p:cNvPr>
          <p:cNvSpPr txBox="1"/>
          <p:nvPr/>
        </p:nvSpPr>
        <p:spPr>
          <a:xfrm>
            <a:off x="4618870" y="4307437"/>
            <a:ext cx="316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N</a:t>
            </a:r>
          </a:p>
        </p:txBody>
      </p:sp>
      <p:sp>
        <p:nvSpPr>
          <p:cNvPr id="27" name="Tekstvak 26">
            <a:extLst>
              <a:ext uri="{FF2B5EF4-FFF2-40B4-BE49-F238E27FC236}">
                <a16:creationId xmlns:a16="http://schemas.microsoft.com/office/drawing/2014/main" id="{FE998E78-4908-4A1E-A7E8-48C25976644C}"/>
              </a:ext>
            </a:extLst>
          </p:cNvPr>
          <p:cNvSpPr txBox="1"/>
          <p:nvPr/>
        </p:nvSpPr>
        <p:spPr>
          <a:xfrm>
            <a:off x="8163763" y="4317773"/>
            <a:ext cx="260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1</a:t>
            </a:r>
          </a:p>
        </p:txBody>
      </p:sp>
      <p:sp>
        <p:nvSpPr>
          <p:cNvPr id="28" name="Tekstvak 27">
            <a:extLst>
              <a:ext uri="{FF2B5EF4-FFF2-40B4-BE49-F238E27FC236}">
                <a16:creationId xmlns:a16="http://schemas.microsoft.com/office/drawing/2014/main" id="{2BEE478F-7A20-4D46-8DD3-5056E01A139E}"/>
              </a:ext>
            </a:extLst>
          </p:cNvPr>
          <p:cNvSpPr txBox="1"/>
          <p:nvPr/>
        </p:nvSpPr>
        <p:spPr>
          <a:xfrm>
            <a:off x="7672311" y="4313536"/>
            <a:ext cx="316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N</a:t>
            </a:r>
          </a:p>
        </p:txBody>
      </p:sp>
      <p:sp>
        <p:nvSpPr>
          <p:cNvPr id="29" name="Tekstvak 28">
            <a:extLst>
              <a:ext uri="{FF2B5EF4-FFF2-40B4-BE49-F238E27FC236}">
                <a16:creationId xmlns:a16="http://schemas.microsoft.com/office/drawing/2014/main" id="{B264EF28-E9EF-4CA6-B217-4FA175ECA116}"/>
              </a:ext>
            </a:extLst>
          </p:cNvPr>
          <p:cNvSpPr txBox="1"/>
          <p:nvPr/>
        </p:nvSpPr>
        <p:spPr>
          <a:xfrm>
            <a:off x="8173149" y="1816135"/>
            <a:ext cx="260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1</a:t>
            </a:r>
          </a:p>
        </p:txBody>
      </p:sp>
      <p:sp>
        <p:nvSpPr>
          <p:cNvPr id="30" name="Tekstvak 29">
            <a:extLst>
              <a:ext uri="{FF2B5EF4-FFF2-40B4-BE49-F238E27FC236}">
                <a16:creationId xmlns:a16="http://schemas.microsoft.com/office/drawing/2014/main" id="{5503674A-740B-414C-90E4-DB964C086214}"/>
              </a:ext>
            </a:extLst>
          </p:cNvPr>
          <p:cNvSpPr txBox="1"/>
          <p:nvPr/>
        </p:nvSpPr>
        <p:spPr>
          <a:xfrm>
            <a:off x="7681697" y="1811898"/>
            <a:ext cx="316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17512756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Word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1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191D313-286E-4A9C-B176-FBDBA55AB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Object-</a:t>
            </a:r>
            <a:r>
              <a:rPr lang="nl-NL" dirty="0" err="1"/>
              <a:t>Relational</a:t>
            </a:r>
            <a:r>
              <a:rPr lang="nl-NL" dirty="0"/>
              <a:t> </a:t>
            </a:r>
            <a:r>
              <a:rPr lang="nl-NL" dirty="0" err="1"/>
              <a:t>Mapping</a:t>
            </a: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4383C496-45CD-47E7-B978-DC3F6282B3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11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ACD042E-0F2C-4D08-A184-ABFCFFF63F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 err="1"/>
              <a:t>Represents</a:t>
            </a:r>
            <a:r>
              <a:rPr lang="nl-NL" dirty="0"/>
              <a:t> DB </a:t>
            </a:r>
            <a:r>
              <a:rPr lang="nl-NL" dirty="0" err="1"/>
              <a:t>table</a:t>
            </a:r>
            <a:r>
              <a:rPr lang="nl-NL" dirty="0"/>
              <a:t> as list of class </a:t>
            </a:r>
            <a:r>
              <a:rPr lang="nl-NL" dirty="0" err="1"/>
              <a:t>instances</a:t>
            </a:r>
            <a:endParaRPr lang="nl-NL" dirty="0"/>
          </a:p>
          <a:p>
            <a:r>
              <a:rPr lang="nl-NL" dirty="0"/>
              <a:t>Abstracts </a:t>
            </a:r>
            <a:r>
              <a:rPr lang="nl-NL" dirty="0" err="1"/>
              <a:t>away</a:t>
            </a:r>
            <a:r>
              <a:rPr lang="nl-NL" dirty="0"/>
              <a:t> SQL </a:t>
            </a:r>
            <a:r>
              <a:rPr lang="nl-NL" dirty="0" err="1"/>
              <a:t>complications</a:t>
            </a:r>
            <a:endParaRPr lang="nl-NL" dirty="0"/>
          </a:p>
          <a:p>
            <a:r>
              <a:rPr lang="nl-NL" dirty="0"/>
              <a:t>Easy to </a:t>
            </a:r>
            <a:r>
              <a:rPr lang="nl-NL" dirty="0" err="1"/>
              <a:t>use</a:t>
            </a:r>
            <a:r>
              <a:rPr lang="nl-NL" dirty="0"/>
              <a:t>, </a:t>
            </a:r>
            <a:r>
              <a:rPr lang="nl-NL" dirty="0" err="1"/>
              <a:t>great</a:t>
            </a:r>
            <a:r>
              <a:rPr lang="nl-NL" dirty="0"/>
              <a:t> for CRUD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20AB3DC-CE51-4A49-B96C-EB6CA51B00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2806022"/>
            <a:ext cx="12192000" cy="4051978"/>
          </a:xfrm>
        </p:spPr>
        <p:txBody>
          <a:bodyPr>
            <a:normAutofit/>
          </a:bodyPr>
          <a:lstStyle/>
          <a:p>
            <a:r>
              <a:rPr lang="nl-NL" dirty="0" err="1"/>
              <a:t>db.Movies.Find</a:t>
            </a:r>
            <a:r>
              <a:rPr lang="nl-NL" dirty="0"/>
              <a:t>(“</a:t>
            </a:r>
            <a:r>
              <a:rPr lang="nl-NL" dirty="0" err="1"/>
              <a:t>id</a:t>
            </a:r>
            <a:r>
              <a:rPr lang="nl-NL" dirty="0"/>
              <a:t>”);</a:t>
            </a:r>
            <a:br>
              <a:rPr lang="nl-NL" dirty="0"/>
            </a:br>
            <a:r>
              <a:rPr lang="nl-NL" dirty="0" err="1"/>
              <a:t>db.Movies.Add</a:t>
            </a:r>
            <a:r>
              <a:rPr lang="nl-NL" dirty="0"/>
              <a:t>(</a:t>
            </a:r>
            <a:r>
              <a:rPr lang="nl-NL" dirty="0" err="1"/>
              <a:t>movie_instance</a:t>
            </a:r>
            <a:r>
              <a:rPr lang="nl-NL" dirty="0"/>
              <a:t>);</a:t>
            </a:r>
            <a:br>
              <a:rPr lang="nl-NL" dirty="0"/>
            </a:br>
            <a:r>
              <a:rPr lang="nl-NL" dirty="0" err="1"/>
              <a:t>db.Movies.Delete</a:t>
            </a:r>
            <a:r>
              <a:rPr lang="nl-NL" dirty="0"/>
              <a:t>(</a:t>
            </a:r>
            <a:r>
              <a:rPr lang="nl-NL" dirty="0" err="1"/>
              <a:t>movie_instance</a:t>
            </a:r>
            <a:r>
              <a:rPr lang="nl-NL" dirty="0"/>
              <a:t>);</a:t>
            </a:r>
            <a:br>
              <a:rPr lang="nl-NL" dirty="0"/>
            </a:br>
            <a:r>
              <a:rPr lang="nl-NL" dirty="0" err="1"/>
              <a:t>db.Movies.Where</a:t>
            </a:r>
            <a:r>
              <a:rPr lang="nl-NL" dirty="0"/>
              <a:t>(x =&gt; </a:t>
            </a:r>
            <a:r>
              <a:rPr lang="nl-NL" dirty="0" err="1"/>
              <a:t>x.Year</a:t>
            </a:r>
            <a:r>
              <a:rPr lang="nl-NL" dirty="0"/>
              <a:t> == 2010</a:t>
            </a:r>
            <a:br>
              <a:rPr lang="nl-NL" dirty="0"/>
            </a:br>
            <a:r>
              <a:rPr lang="nl-NL" dirty="0"/>
              <a:t>																		&amp;&amp; </a:t>
            </a:r>
            <a:r>
              <a:rPr lang="nl-NL" dirty="0" err="1"/>
              <a:t>x.Rating</a:t>
            </a:r>
            <a:r>
              <a:rPr lang="nl-NL" dirty="0"/>
              <a:t> == “18”);</a:t>
            </a:r>
          </a:p>
          <a:p>
            <a:r>
              <a:rPr lang="nl-NL" dirty="0"/>
              <a:t>SELECT * FROM Movies WHERE `</a:t>
            </a:r>
            <a:r>
              <a:rPr lang="nl-NL" dirty="0" err="1"/>
              <a:t>id</a:t>
            </a:r>
            <a:r>
              <a:rPr lang="nl-NL" dirty="0"/>
              <a:t>` = “</a:t>
            </a:r>
            <a:r>
              <a:rPr lang="nl-NL" dirty="0" err="1"/>
              <a:t>id</a:t>
            </a:r>
            <a:r>
              <a:rPr lang="nl-NL" dirty="0"/>
              <a:t>”;</a:t>
            </a:r>
            <a:br>
              <a:rPr lang="nl-NL" dirty="0"/>
            </a:br>
            <a:r>
              <a:rPr lang="nl-NL" dirty="0"/>
              <a:t>INSERT INTO Movies (col1, …) VALUES (…);</a:t>
            </a:r>
            <a:br>
              <a:rPr lang="nl-NL" dirty="0"/>
            </a:br>
            <a:r>
              <a:rPr lang="nl-NL" dirty="0"/>
              <a:t>DELETE FROM Movies WHERE `</a:t>
            </a:r>
            <a:r>
              <a:rPr lang="nl-NL" dirty="0" err="1"/>
              <a:t>id</a:t>
            </a:r>
            <a:r>
              <a:rPr lang="nl-NL" dirty="0"/>
              <a:t>` = …;</a:t>
            </a:r>
            <a:br>
              <a:rPr lang="nl-NL" dirty="0"/>
            </a:br>
            <a:r>
              <a:rPr lang="nl-NL" dirty="0"/>
              <a:t>SELECT * FROM Movies WHERE `</a:t>
            </a:r>
            <a:r>
              <a:rPr lang="nl-NL" dirty="0" err="1"/>
              <a:t>year</a:t>
            </a:r>
            <a:r>
              <a:rPr lang="nl-NL" dirty="0"/>
              <a:t>` = 2010</a:t>
            </a:r>
            <a:br>
              <a:rPr lang="nl-NL" dirty="0"/>
            </a:br>
            <a:r>
              <a:rPr lang="nl-NL" dirty="0"/>
              <a:t>                           AND `rating` = “18”;</a:t>
            </a:r>
          </a:p>
        </p:txBody>
      </p:sp>
    </p:spTree>
    <p:extLst>
      <p:ext uri="{BB962C8B-B14F-4D97-AF65-F5344CB8AC3E}">
        <p14:creationId xmlns:p14="http://schemas.microsoft.com/office/powerpoint/2010/main" val="1683412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7.40741E-7 L -3.95833E-6 -0.35602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80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4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6227 L -0.00052 -0.21504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48148E-6 L 0 0.35556 " pathEditMode="fixed" rAng="0" ptsTypes="AA">
                                      <p:cBhvr>
                                        <p:cTn id="20" dur="50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4" grpId="1"/>
      <p:bldP spid="5" grpId="0" animBg="1"/>
      <p:bldP spid="5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1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F0526647-7171-4607-99FA-86B74D08A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ORM </a:t>
            </a:r>
            <a:r>
              <a:rPr lang="nl-NL" dirty="0" err="1"/>
              <a:t>Tasks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6273C80-311C-4C97-A0F6-84DBA8D797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12</a:t>
            </a:fld>
            <a:endParaRPr lang="nl-NL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52288E05-BFF4-4D04-A968-3A421AA5C9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Translate code </a:t>
            </a:r>
            <a:r>
              <a:rPr lang="nl-NL" dirty="0" err="1"/>
              <a:t>into</a:t>
            </a:r>
            <a:r>
              <a:rPr lang="nl-NL" dirty="0"/>
              <a:t> SQL </a:t>
            </a:r>
            <a:r>
              <a:rPr lang="nl-NL" dirty="0" err="1"/>
              <a:t>queries</a:t>
            </a:r>
            <a:r>
              <a:rPr lang="nl-NL" dirty="0"/>
              <a:t> </a:t>
            </a:r>
            <a:r>
              <a:rPr lang="nl-NL" dirty="0" err="1"/>
              <a:t>efficiently</a:t>
            </a:r>
            <a:endParaRPr lang="nl-NL" dirty="0"/>
          </a:p>
          <a:p>
            <a:pPr lvl="3"/>
            <a:r>
              <a:rPr lang="nl-NL" dirty="0" err="1"/>
              <a:t>Don’t</a:t>
            </a:r>
            <a:r>
              <a:rPr lang="nl-NL" dirty="0"/>
              <a:t> </a:t>
            </a:r>
            <a:r>
              <a:rPr lang="nl-NL" dirty="0" err="1"/>
              <a:t>receive</a:t>
            </a:r>
            <a:r>
              <a:rPr lang="nl-NL" dirty="0"/>
              <a:t> </a:t>
            </a:r>
            <a:r>
              <a:rPr lang="nl-NL" dirty="0" err="1"/>
              <a:t>too</a:t>
            </a:r>
            <a:r>
              <a:rPr lang="nl-NL" dirty="0"/>
              <a:t> </a:t>
            </a:r>
            <a:r>
              <a:rPr lang="nl-NL" dirty="0" err="1"/>
              <a:t>much</a:t>
            </a:r>
            <a:r>
              <a:rPr lang="nl-NL" dirty="0"/>
              <a:t> data</a:t>
            </a:r>
          </a:p>
          <a:p>
            <a:pPr lvl="3"/>
            <a:r>
              <a:rPr lang="nl-NL" dirty="0" err="1"/>
              <a:t>Don’t</a:t>
            </a:r>
            <a:r>
              <a:rPr lang="nl-NL" dirty="0"/>
              <a:t> </a:t>
            </a:r>
            <a:r>
              <a:rPr lang="nl-NL" dirty="0" err="1"/>
              <a:t>perform</a:t>
            </a:r>
            <a:r>
              <a:rPr lang="nl-NL" dirty="0"/>
              <a:t> </a:t>
            </a:r>
            <a:r>
              <a:rPr lang="nl-NL" dirty="0" err="1"/>
              <a:t>too</a:t>
            </a:r>
            <a:r>
              <a:rPr lang="nl-NL" dirty="0"/>
              <a:t> </a:t>
            </a:r>
            <a:r>
              <a:rPr lang="nl-NL" dirty="0" err="1"/>
              <a:t>many</a:t>
            </a:r>
            <a:r>
              <a:rPr lang="nl-NL" dirty="0"/>
              <a:t> </a:t>
            </a:r>
            <a:r>
              <a:rPr lang="nl-NL" dirty="0" err="1"/>
              <a:t>queries</a:t>
            </a:r>
            <a:endParaRPr lang="nl-NL" dirty="0"/>
          </a:p>
          <a:p>
            <a:r>
              <a:rPr lang="nl-NL" dirty="0" err="1"/>
              <a:t>Convert</a:t>
            </a:r>
            <a:r>
              <a:rPr lang="nl-NL" dirty="0"/>
              <a:t>/map SQL </a:t>
            </a:r>
            <a:r>
              <a:rPr lang="nl-NL" dirty="0" err="1"/>
              <a:t>results</a:t>
            </a:r>
            <a:r>
              <a:rPr lang="nl-NL" dirty="0"/>
              <a:t> </a:t>
            </a:r>
            <a:r>
              <a:rPr lang="nl-NL" dirty="0" err="1"/>
              <a:t>into</a:t>
            </a:r>
            <a:r>
              <a:rPr lang="nl-NL" dirty="0"/>
              <a:t> (</a:t>
            </a:r>
            <a:r>
              <a:rPr lang="nl-NL" dirty="0" err="1"/>
              <a:t>typed</a:t>
            </a:r>
            <a:r>
              <a:rPr lang="nl-NL" dirty="0"/>
              <a:t>) </a:t>
            </a:r>
            <a:r>
              <a:rPr lang="nl-NL" dirty="0" err="1"/>
              <a:t>objects</a:t>
            </a:r>
            <a:endParaRPr lang="nl-NL" dirty="0"/>
          </a:p>
          <a:p>
            <a:pPr lvl="3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63020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1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8B9640-1544-4DB8-AFA5-CD2B1D248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Bonus: ORM </a:t>
            </a:r>
            <a:r>
              <a:rPr lang="nl-NL" dirty="0"/>
              <a:t>Performance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FEB9809-D566-415E-9F03-0D976E9F18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13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B6864EE-C2DD-4544-AF0C-AFA697BEA4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 err="1"/>
              <a:t>Complicated</a:t>
            </a:r>
            <a:r>
              <a:rPr lang="nl-NL" dirty="0"/>
              <a:t> </a:t>
            </a:r>
            <a:r>
              <a:rPr lang="nl-NL" dirty="0" err="1"/>
              <a:t>queries</a:t>
            </a:r>
            <a:r>
              <a:rPr lang="nl-NL" dirty="0"/>
              <a:t> </a:t>
            </a:r>
            <a:r>
              <a:rPr lang="nl-NL" dirty="0" err="1"/>
              <a:t>easier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hand</a:t>
            </a:r>
          </a:p>
          <a:p>
            <a:r>
              <a:rPr lang="nl-NL" dirty="0"/>
              <a:t>N+1 </a:t>
            </a:r>
            <a:r>
              <a:rPr lang="nl-NL" dirty="0" err="1"/>
              <a:t>problem</a:t>
            </a:r>
            <a:endParaRPr lang="nl-NL" dirty="0"/>
          </a:p>
          <a:p>
            <a:r>
              <a:rPr lang="nl-NL" dirty="0" err="1"/>
              <a:t>Consider</a:t>
            </a:r>
            <a:r>
              <a:rPr lang="nl-NL" dirty="0"/>
              <a:t> </a:t>
            </a:r>
            <a:r>
              <a:rPr lang="nl-NL" dirty="0" err="1"/>
              <a:t>simpler</a:t>
            </a:r>
            <a:r>
              <a:rPr lang="nl-NL" dirty="0"/>
              <a:t> “object </a:t>
            </a:r>
            <a:r>
              <a:rPr lang="nl-NL" dirty="0" err="1"/>
              <a:t>mapper</a:t>
            </a:r>
            <a:r>
              <a:rPr lang="nl-NL" dirty="0"/>
              <a:t>”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19132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4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E2B03A-7DB2-47C7-8B8D-B37B4E6FF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Backend </a:t>
            </a:r>
            <a:r>
              <a:rPr lang="nl-NL" dirty="0" err="1"/>
              <a:t>Frameworks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6C2FCD9-0A46-4AE8-85E3-3DB2921D8B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14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62DC9EF-85E8-4574-BC1F-5269783F43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 err="1"/>
              <a:t>Offloads</a:t>
            </a:r>
            <a:r>
              <a:rPr lang="nl-NL" dirty="0"/>
              <a:t> </a:t>
            </a:r>
            <a:r>
              <a:rPr lang="nl-NL" dirty="0" err="1"/>
              <a:t>much</a:t>
            </a:r>
            <a:r>
              <a:rPr lang="nl-NL" dirty="0"/>
              <a:t> of the </a:t>
            </a:r>
            <a:r>
              <a:rPr lang="nl-NL" dirty="0" err="1"/>
              <a:t>work</a:t>
            </a:r>
            <a:endParaRPr lang="nl-NL" dirty="0"/>
          </a:p>
          <a:p>
            <a:r>
              <a:rPr lang="nl-NL" dirty="0"/>
              <a:t>Uniform </a:t>
            </a:r>
            <a:r>
              <a:rPr lang="nl-NL" dirty="0" err="1"/>
              <a:t>implementations</a:t>
            </a:r>
            <a:r>
              <a:rPr lang="nl-NL" dirty="0"/>
              <a:t> of </a:t>
            </a:r>
            <a:r>
              <a:rPr lang="nl-NL" dirty="0" err="1"/>
              <a:t>essentials</a:t>
            </a:r>
            <a:endParaRPr lang="nl-NL" dirty="0"/>
          </a:p>
          <a:p>
            <a:r>
              <a:rPr lang="nl-NL" dirty="0" err="1"/>
              <a:t>Helps</a:t>
            </a:r>
            <a:r>
              <a:rPr lang="nl-NL" dirty="0"/>
              <a:t> </a:t>
            </a:r>
            <a:r>
              <a:rPr lang="nl-NL" dirty="0" err="1"/>
              <a:t>organising</a:t>
            </a:r>
            <a:r>
              <a:rPr lang="nl-NL" dirty="0"/>
              <a:t> and </a:t>
            </a:r>
            <a:r>
              <a:rPr lang="nl-NL" dirty="0" err="1"/>
              <a:t>structuring</a:t>
            </a:r>
            <a:r>
              <a:rPr lang="nl-NL" dirty="0"/>
              <a:t> code</a:t>
            </a:r>
          </a:p>
        </p:txBody>
      </p:sp>
    </p:spTree>
    <p:extLst>
      <p:ext uri="{BB962C8B-B14F-4D97-AF65-F5344CB8AC3E}">
        <p14:creationId xmlns:p14="http://schemas.microsoft.com/office/powerpoint/2010/main" val="943069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4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13439A-4C3D-4B87-997C-ECF7DCD0C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Framework offer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2AE8B2C-34D1-4AC9-A3AF-5152DE34B8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15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4526A31-2117-4092-A321-9958672B72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0000" y="2970000"/>
            <a:ext cx="8280000" cy="2120400"/>
          </a:xfrm>
        </p:spPr>
        <p:txBody>
          <a:bodyPr>
            <a:normAutofit/>
          </a:bodyPr>
          <a:lstStyle/>
          <a:p>
            <a:r>
              <a:rPr lang="nl-NL" dirty="0"/>
              <a:t>PHP: </a:t>
            </a:r>
            <a:r>
              <a:rPr lang="nl-NL" dirty="0" err="1"/>
              <a:t>Laravel</a:t>
            </a:r>
            <a:r>
              <a:rPr lang="nl-NL" dirty="0"/>
              <a:t>, </a:t>
            </a:r>
            <a:r>
              <a:rPr lang="nl-NL" dirty="0" err="1"/>
              <a:t>Laminas</a:t>
            </a:r>
            <a:r>
              <a:rPr lang="nl-NL" dirty="0"/>
              <a:t>, </a:t>
            </a:r>
            <a:r>
              <a:rPr lang="nl-NL" dirty="0" err="1"/>
              <a:t>Symfony</a:t>
            </a:r>
            <a:r>
              <a:rPr lang="nl-NL" dirty="0"/>
              <a:t>, …</a:t>
            </a:r>
          </a:p>
          <a:p>
            <a:r>
              <a:rPr lang="nl-NL" dirty="0" err="1"/>
              <a:t>JavaScript</a:t>
            </a:r>
            <a:r>
              <a:rPr lang="nl-NL" dirty="0"/>
              <a:t> (</a:t>
            </a:r>
            <a:r>
              <a:rPr lang="nl-NL" dirty="0" err="1"/>
              <a:t>NodeJS</a:t>
            </a:r>
            <a:r>
              <a:rPr lang="nl-NL" dirty="0"/>
              <a:t>): </a:t>
            </a:r>
            <a:r>
              <a:rPr lang="nl-NL" b="1" dirty="0" err="1"/>
              <a:t>ExpressJS</a:t>
            </a:r>
            <a:r>
              <a:rPr lang="nl-NL" dirty="0"/>
              <a:t>, Meteor.js, …</a:t>
            </a:r>
          </a:p>
          <a:p>
            <a:r>
              <a:rPr lang="nl-NL" dirty="0"/>
              <a:t>Python: </a:t>
            </a:r>
            <a:r>
              <a:rPr lang="nl-NL" dirty="0" err="1"/>
              <a:t>Flask</a:t>
            </a:r>
            <a:r>
              <a:rPr lang="nl-NL" dirty="0"/>
              <a:t>, Django, </a:t>
            </a:r>
            <a:r>
              <a:rPr lang="nl-NL" dirty="0" err="1"/>
              <a:t>fastAPI</a:t>
            </a:r>
            <a:r>
              <a:rPr lang="nl-NL" dirty="0"/>
              <a:t>, …</a:t>
            </a:r>
          </a:p>
          <a:p>
            <a:r>
              <a:rPr lang="nl-NL" dirty="0"/>
              <a:t>Java: Spring, JSF, …</a:t>
            </a:r>
          </a:p>
          <a:p>
            <a:r>
              <a:rPr lang="nl-NL" dirty="0"/>
              <a:t>C#: </a:t>
            </a:r>
            <a:r>
              <a:rPr lang="nl-NL" b="1" dirty="0"/>
              <a:t>ASP.NET </a:t>
            </a:r>
            <a:r>
              <a:rPr lang="nl-NL" b="1" dirty="0" err="1"/>
              <a:t>Core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1553192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4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E77BCB-C8AA-40D9-8094-E4655CB99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Framework Design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18076E03-CF11-4262-B511-F304EB8656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16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F9EAAA1-0C70-4C6B-98BC-4E03377716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Goal: </a:t>
            </a:r>
            <a:r>
              <a:rPr lang="nl-NL" dirty="0" err="1"/>
              <a:t>transform</a:t>
            </a:r>
            <a:r>
              <a:rPr lang="nl-NL" dirty="0"/>
              <a:t> </a:t>
            </a:r>
            <a:r>
              <a:rPr lang="nl-NL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Request</a:t>
            </a:r>
            <a:r>
              <a:rPr lang="nl-NL" dirty="0"/>
              <a:t> to </a:t>
            </a:r>
            <a:r>
              <a:rPr lang="nl-NL" dirty="0">
                <a:latin typeface="Cascadia Code" panose="020B0609020000020004" pitchFamily="49" charset="0"/>
                <a:cs typeface="Cascadia Code" panose="020B0609020000020004" pitchFamily="49" charset="0"/>
              </a:rPr>
              <a:t>Response</a:t>
            </a:r>
          </a:p>
          <a:p>
            <a:r>
              <a:rPr lang="nl-NL" dirty="0" err="1"/>
              <a:t>Implementations</a:t>
            </a:r>
            <a:r>
              <a:rPr lang="nl-NL" dirty="0"/>
              <a:t> </a:t>
            </a:r>
            <a:r>
              <a:rPr lang="nl-NL" dirty="0" err="1"/>
              <a:t>differ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</a:t>
            </a:r>
            <a:r>
              <a:rPr lang="nl-NL" dirty="0" err="1"/>
              <a:t>frameworks</a:t>
            </a:r>
            <a:r>
              <a:rPr lang="nl-NL" dirty="0"/>
              <a:t>,</a:t>
            </a:r>
            <a:br>
              <a:rPr lang="nl-NL" dirty="0"/>
            </a:br>
            <a:r>
              <a:rPr lang="nl-NL" dirty="0"/>
              <a:t>	</a:t>
            </a:r>
            <a:r>
              <a:rPr lang="nl-NL" dirty="0" err="1"/>
              <a:t>concepts</a:t>
            </a:r>
            <a:r>
              <a:rPr lang="nl-NL" dirty="0"/>
              <a:t> are </a:t>
            </a:r>
            <a:r>
              <a:rPr lang="nl-NL" dirty="0" err="1"/>
              <a:t>roughly</a:t>
            </a:r>
            <a:r>
              <a:rPr lang="nl-NL" dirty="0"/>
              <a:t> the </a:t>
            </a:r>
            <a:r>
              <a:rPr lang="nl-NL" dirty="0" err="1"/>
              <a:t>same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19006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4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15E5EA3E-47A4-4301-ACEF-0BEA26DB8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6000" y="251693"/>
            <a:ext cx="8280000" cy="1143000"/>
          </a:xfrm>
        </p:spPr>
        <p:txBody>
          <a:bodyPr lIns="90000"/>
          <a:lstStyle/>
          <a:p>
            <a:pPr algn="ctr"/>
            <a:r>
              <a:rPr lang="nl-NL" dirty="0" err="1"/>
              <a:t>ExpressJS</a:t>
            </a: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67F2D61-79D8-4298-AC51-3302A5F0E7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17</a:t>
            </a:fld>
            <a:endParaRPr lang="nl-NL"/>
          </a:p>
        </p:txBody>
      </p:sp>
      <p:sp>
        <p:nvSpPr>
          <p:cNvPr id="48" name="Tijdelijke aanduiding voor tekst 47">
            <a:extLst>
              <a:ext uri="{FF2B5EF4-FFF2-40B4-BE49-F238E27FC236}">
                <a16:creationId xmlns:a16="http://schemas.microsoft.com/office/drawing/2014/main" id="{5B05BCC0-3750-457C-A88C-646A9F1AA6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nl-NL" dirty="0" err="1"/>
              <a:t>app.use</a:t>
            </a:r>
            <a:r>
              <a:rPr lang="nl-NL" dirty="0"/>
              <a:t>(</a:t>
            </a:r>
            <a:r>
              <a:rPr lang="nl-NL" dirty="0" err="1"/>
              <a:t>cookieHandler</a:t>
            </a:r>
            <a:r>
              <a:rPr lang="nl-NL" dirty="0"/>
              <a:t>);</a:t>
            </a:r>
            <a:br>
              <a:rPr lang="nl-NL" dirty="0"/>
            </a:br>
            <a:r>
              <a:rPr lang="nl-NL" dirty="0" err="1"/>
              <a:t>app.use</a:t>
            </a:r>
            <a:r>
              <a:rPr lang="nl-NL" dirty="0"/>
              <a:t>(“/</a:t>
            </a:r>
            <a:r>
              <a:rPr lang="nl-NL" dirty="0" err="1"/>
              <a:t>admin</a:t>
            </a:r>
            <a:r>
              <a:rPr lang="nl-NL" dirty="0"/>
              <a:t>”, </a:t>
            </a:r>
            <a:r>
              <a:rPr lang="nl-NL" dirty="0" err="1"/>
              <a:t>authHandler</a:t>
            </a:r>
            <a:r>
              <a:rPr lang="nl-NL" dirty="0"/>
              <a:t>);</a:t>
            </a:r>
            <a:br>
              <a:rPr lang="nl-NL" dirty="0"/>
            </a:br>
            <a:r>
              <a:rPr lang="nl-NL" dirty="0" err="1"/>
              <a:t>app.get</a:t>
            </a:r>
            <a:r>
              <a:rPr lang="nl-NL" dirty="0"/>
              <a:t>(“/”, </a:t>
            </a:r>
            <a:r>
              <a:rPr lang="nl-NL" dirty="0" err="1"/>
              <a:t>listItems</a:t>
            </a:r>
            <a:r>
              <a:rPr lang="nl-NL" dirty="0"/>
              <a:t>);</a:t>
            </a:r>
            <a:br>
              <a:rPr lang="nl-NL" dirty="0"/>
            </a:br>
            <a:r>
              <a:rPr lang="nl-NL" dirty="0" err="1"/>
              <a:t>app.post</a:t>
            </a:r>
            <a:r>
              <a:rPr lang="nl-NL" dirty="0"/>
              <a:t>(“/”, </a:t>
            </a:r>
            <a:r>
              <a:rPr lang="nl-NL" dirty="0" err="1"/>
              <a:t>createItem</a:t>
            </a:r>
            <a:r>
              <a:rPr lang="nl-NL" dirty="0"/>
              <a:t>);</a:t>
            </a:r>
            <a:br>
              <a:rPr lang="nl-NL" dirty="0"/>
            </a:br>
            <a:r>
              <a:rPr lang="nl-NL" dirty="0" err="1"/>
              <a:t>app.use</a:t>
            </a:r>
            <a:r>
              <a:rPr lang="nl-NL" dirty="0"/>
              <a:t>(</a:t>
            </a:r>
            <a:r>
              <a:rPr lang="nl-NL" dirty="0" err="1"/>
              <a:t>handleError</a:t>
            </a:r>
            <a:r>
              <a:rPr lang="nl-NL" dirty="0"/>
              <a:t>);</a:t>
            </a:r>
          </a:p>
        </p:txBody>
      </p:sp>
      <p:sp useBgFill="1">
        <p:nvSpPr>
          <p:cNvPr id="10" name="!!Middleware">
            <a:extLst>
              <a:ext uri="{FF2B5EF4-FFF2-40B4-BE49-F238E27FC236}">
                <a16:creationId xmlns:a16="http://schemas.microsoft.com/office/drawing/2014/main" id="{1CD6AA0D-0FB2-46D0-BDA3-26FECBCA34E5}"/>
              </a:ext>
            </a:extLst>
          </p:cNvPr>
          <p:cNvSpPr/>
          <p:nvPr/>
        </p:nvSpPr>
        <p:spPr>
          <a:xfrm>
            <a:off x="2498400" y="2079001"/>
            <a:ext cx="7200000" cy="1830600"/>
          </a:xfrm>
          <a:prstGeom prst="rect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44000" rtlCol="0" anchor="t" anchorCtr="0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Middleware &amp; Routing</a:t>
            </a:r>
          </a:p>
        </p:txBody>
      </p:sp>
      <p:sp>
        <p:nvSpPr>
          <p:cNvPr id="49" name="!!Routing">
            <a:extLst>
              <a:ext uri="{FF2B5EF4-FFF2-40B4-BE49-F238E27FC236}">
                <a16:creationId xmlns:a16="http://schemas.microsoft.com/office/drawing/2014/main" id="{D80B19AD-0E76-49F6-B0DB-F58B96A646E0}"/>
              </a:ext>
            </a:extLst>
          </p:cNvPr>
          <p:cNvSpPr/>
          <p:nvPr/>
        </p:nvSpPr>
        <p:spPr>
          <a:xfrm>
            <a:off x="2500580" y="2079001"/>
            <a:ext cx="7193020" cy="18306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44000" rtlCol="0" anchor="t" anchorCtr="0"/>
          <a:lstStyle/>
          <a:p>
            <a:pPr algn="ctr"/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4B5963A7-6F71-4D82-A868-D721904572E5}"/>
              </a:ext>
            </a:extLst>
          </p:cNvPr>
          <p:cNvSpPr/>
          <p:nvPr/>
        </p:nvSpPr>
        <p:spPr>
          <a:xfrm>
            <a:off x="2784417" y="2781820"/>
            <a:ext cx="1260000" cy="86399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Cookie </a:t>
            </a:r>
            <a:r>
              <a:rPr lang="nl-NL" dirty="0" err="1">
                <a:solidFill>
                  <a:schemeClr val="tx1"/>
                </a:solidFill>
              </a:rPr>
              <a:t>Handler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0369A318-0EB3-432B-8420-C1842BF43234}"/>
              </a:ext>
            </a:extLst>
          </p:cNvPr>
          <p:cNvSpPr/>
          <p:nvPr/>
        </p:nvSpPr>
        <p:spPr>
          <a:xfrm>
            <a:off x="4293739" y="2781820"/>
            <a:ext cx="1260000" cy="86399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Auth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Handler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5" name="Rechthoek 14">
            <a:extLst>
              <a:ext uri="{FF2B5EF4-FFF2-40B4-BE49-F238E27FC236}">
                <a16:creationId xmlns:a16="http://schemas.microsoft.com/office/drawing/2014/main" id="{62969335-BCEC-4849-86CB-58AC46E0B9D5}"/>
              </a:ext>
            </a:extLst>
          </p:cNvPr>
          <p:cNvSpPr/>
          <p:nvPr/>
        </p:nvSpPr>
        <p:spPr>
          <a:xfrm>
            <a:off x="5803061" y="2781820"/>
            <a:ext cx="1260000" cy="86399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Endpoint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6" name="Rechthoek 152">
            <a:extLst>
              <a:ext uri="{FF2B5EF4-FFF2-40B4-BE49-F238E27FC236}">
                <a16:creationId xmlns:a16="http://schemas.microsoft.com/office/drawing/2014/main" id="{E415340A-0EDE-4CE9-8510-09ED73CBEF96}"/>
              </a:ext>
            </a:extLst>
          </p:cNvPr>
          <p:cNvSpPr/>
          <p:nvPr/>
        </p:nvSpPr>
        <p:spPr>
          <a:xfrm>
            <a:off x="7312384" y="2781820"/>
            <a:ext cx="1260000" cy="86399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Error </a:t>
            </a:r>
            <a:r>
              <a:rPr lang="nl-NL" dirty="0" err="1">
                <a:solidFill>
                  <a:schemeClr val="tx1"/>
                </a:solidFill>
              </a:rPr>
              <a:t>Handler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40E3B7C9-4F47-47C9-8C8E-F7C528520901}"/>
              </a:ext>
            </a:extLst>
          </p:cNvPr>
          <p:cNvSpPr txBox="1"/>
          <p:nvPr/>
        </p:nvSpPr>
        <p:spPr>
          <a:xfrm>
            <a:off x="8899200" y="2781820"/>
            <a:ext cx="33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200" dirty="0"/>
              <a:t>…</a:t>
            </a:r>
          </a:p>
        </p:txBody>
      </p:sp>
      <p:sp>
        <p:nvSpPr>
          <p:cNvPr id="50" name="Tekstvak 49">
            <a:extLst>
              <a:ext uri="{FF2B5EF4-FFF2-40B4-BE49-F238E27FC236}">
                <a16:creationId xmlns:a16="http://schemas.microsoft.com/office/drawing/2014/main" id="{2F1ABA88-3D7C-4A86-9574-D952465EC15F}"/>
              </a:ext>
            </a:extLst>
          </p:cNvPr>
          <p:cNvSpPr txBox="1"/>
          <p:nvPr/>
        </p:nvSpPr>
        <p:spPr>
          <a:xfrm>
            <a:off x="1209893" y="1789508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Request</a:t>
            </a:r>
            <a:endParaRPr lang="nl-NL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1" name="Tekstvak 50">
            <a:extLst>
              <a:ext uri="{FF2B5EF4-FFF2-40B4-BE49-F238E27FC236}">
                <a16:creationId xmlns:a16="http://schemas.microsoft.com/office/drawing/2014/main" id="{DC71912A-0891-4E56-9370-9B5FEE24E23B}"/>
              </a:ext>
            </a:extLst>
          </p:cNvPr>
          <p:cNvSpPr txBox="1"/>
          <p:nvPr/>
        </p:nvSpPr>
        <p:spPr>
          <a:xfrm>
            <a:off x="1142567" y="3724034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cs typeface="Cascadia Code" panose="020B0609020000020004" pitchFamily="49" charset="0"/>
              </a:rPr>
              <a:t>Response</a:t>
            </a:r>
          </a:p>
        </p:txBody>
      </p:sp>
      <p:pic>
        <p:nvPicPr>
          <p:cNvPr id="52" name="!!PCSend" descr="Internet silhouet">
            <a:extLst>
              <a:ext uri="{FF2B5EF4-FFF2-40B4-BE49-F238E27FC236}">
                <a16:creationId xmlns:a16="http://schemas.microsoft.com/office/drawing/2014/main" id="{6CD33084-C7BF-4374-B73F-0F04AE7D4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6767" y="2534969"/>
            <a:ext cx="914400" cy="914400"/>
          </a:xfrm>
          <a:prstGeom prst="rect">
            <a:avLst/>
          </a:prstGeom>
        </p:spPr>
      </p:pic>
      <p:cxnSp>
        <p:nvCxnSpPr>
          <p:cNvPr id="53" name="Rechte verbindingslijn 8">
            <a:extLst>
              <a:ext uri="{FF2B5EF4-FFF2-40B4-BE49-F238E27FC236}">
                <a16:creationId xmlns:a16="http://schemas.microsoft.com/office/drawing/2014/main" id="{4936874A-BB89-4C37-AAC9-E21A7A2958D6}"/>
              </a:ext>
            </a:extLst>
          </p:cNvPr>
          <p:cNvCxnSpPr>
            <a:cxnSpLocks/>
            <a:stCxn id="52" idx="0"/>
          </p:cNvCxnSpPr>
          <p:nvPr/>
        </p:nvCxnSpPr>
        <p:spPr>
          <a:xfrm rot="5400000" flipH="1" flipV="1">
            <a:off x="1534832" y="1563924"/>
            <a:ext cx="350181" cy="1591911"/>
          </a:xfrm>
          <a:prstGeom prst="bentConnector2">
            <a:avLst/>
          </a:prstGeom>
          <a:ln w="4762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Rechte verbindingslijn 8">
            <a:extLst>
              <a:ext uri="{FF2B5EF4-FFF2-40B4-BE49-F238E27FC236}">
                <a16:creationId xmlns:a16="http://schemas.microsoft.com/office/drawing/2014/main" id="{9CC2F7F9-1520-4395-94E7-63FE3247D9A1}"/>
              </a:ext>
            </a:extLst>
          </p:cNvPr>
          <p:cNvCxnSpPr>
            <a:cxnSpLocks/>
            <a:stCxn id="10" idx="3"/>
            <a:endCxn id="52" idx="2"/>
          </p:cNvCxnSpPr>
          <p:nvPr/>
        </p:nvCxnSpPr>
        <p:spPr>
          <a:xfrm flipH="1">
            <a:off x="913967" y="2994301"/>
            <a:ext cx="8784433" cy="455068"/>
          </a:xfrm>
          <a:prstGeom prst="bentConnector4">
            <a:avLst>
              <a:gd name="adj1" fmla="val -4271"/>
              <a:gd name="adj2" fmla="val 249835"/>
            </a:avLst>
          </a:prstGeom>
          <a:ln w="4762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73989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 0.35556 " pathEditMode="fixed" rAng="0" ptsTypes="AA">
                                      <p:cBhvr>
                                        <p:cTn id="10" dur="5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8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4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15E5EA3E-47A4-4301-ACEF-0BEA26DB8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6000" y="366327"/>
            <a:ext cx="8280000" cy="1143000"/>
          </a:xfrm>
        </p:spPr>
        <p:txBody>
          <a:bodyPr lIns="90000"/>
          <a:lstStyle/>
          <a:p>
            <a:pPr algn="ctr"/>
            <a:r>
              <a:rPr lang="nl-NL" dirty="0"/>
              <a:t>ASPꓸNET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67F2D61-79D8-4298-AC51-3302A5F0E7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18</a:t>
            </a:fld>
            <a:endParaRPr lang="nl-NL"/>
          </a:p>
        </p:txBody>
      </p:sp>
      <p:sp>
        <p:nvSpPr>
          <p:cNvPr id="29" name="Tijdelijke aanduiding voor tekst 28">
            <a:extLst>
              <a:ext uri="{FF2B5EF4-FFF2-40B4-BE49-F238E27FC236}">
                <a16:creationId xmlns:a16="http://schemas.microsoft.com/office/drawing/2014/main" id="{2A232D89-1CF1-4841-A2B9-B13429FD64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nl-NL" dirty="0" err="1">
                <a:solidFill>
                  <a:schemeClr val="bg1">
                    <a:lumMod val="65000"/>
                  </a:schemeClr>
                </a:solidFill>
              </a:rPr>
              <a:t>app.Use</a:t>
            </a:r>
            <a:r>
              <a:rPr lang="nl-NL" dirty="0" err="1"/>
              <a:t>ExceptionHandler</a:t>
            </a:r>
            <a:r>
              <a:rPr lang="nl-NL" dirty="0"/>
              <a:t>(…);</a:t>
            </a:r>
            <a:br>
              <a:rPr lang="nl-NL" dirty="0"/>
            </a:br>
            <a:r>
              <a:rPr lang="nl-NL" dirty="0" err="1">
                <a:solidFill>
                  <a:schemeClr val="bg1">
                    <a:lumMod val="65000"/>
                  </a:schemeClr>
                </a:solidFill>
              </a:rPr>
              <a:t>app.Use</a:t>
            </a:r>
            <a:r>
              <a:rPr lang="nl-NL" dirty="0" err="1"/>
              <a:t>Routing</a:t>
            </a:r>
            <a:r>
              <a:rPr lang="nl-NL" dirty="0"/>
              <a:t>();</a:t>
            </a:r>
            <a:br>
              <a:rPr lang="nl-NL" dirty="0"/>
            </a:br>
            <a:r>
              <a:rPr lang="nl-NL" dirty="0" err="1">
                <a:solidFill>
                  <a:schemeClr val="bg1">
                    <a:lumMod val="65000"/>
                  </a:schemeClr>
                </a:solidFill>
              </a:rPr>
              <a:t>app.Use</a:t>
            </a:r>
            <a:r>
              <a:rPr lang="nl-NL" dirty="0" err="1"/>
              <a:t>Authentication</a:t>
            </a:r>
            <a:r>
              <a:rPr lang="nl-NL" dirty="0"/>
              <a:t>();</a:t>
            </a:r>
            <a:br>
              <a:rPr lang="nl-NL" dirty="0"/>
            </a:br>
            <a:r>
              <a:rPr lang="nl-NL" dirty="0" err="1">
                <a:solidFill>
                  <a:schemeClr val="bg1">
                    <a:lumMod val="65000"/>
                  </a:schemeClr>
                </a:solidFill>
              </a:rPr>
              <a:t>app.Use</a:t>
            </a:r>
            <a:r>
              <a:rPr lang="nl-NL" dirty="0" err="1"/>
              <a:t>Authorization</a:t>
            </a:r>
            <a:r>
              <a:rPr lang="nl-NL" dirty="0"/>
              <a:t>();</a:t>
            </a:r>
            <a:br>
              <a:rPr lang="nl-NL" dirty="0"/>
            </a:br>
            <a:r>
              <a:rPr lang="nl-NL" dirty="0" err="1">
                <a:solidFill>
                  <a:schemeClr val="bg1">
                    <a:lumMod val="65000"/>
                  </a:schemeClr>
                </a:solidFill>
              </a:rPr>
              <a:t>app</a:t>
            </a:r>
            <a:r>
              <a:rPr lang="nl-NL" dirty="0" err="1"/>
              <a:t>.MapControllerRoute</a:t>
            </a:r>
            <a:r>
              <a:rPr lang="nl-NL" dirty="0"/>
              <a:t>(…);</a:t>
            </a: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A2EFB62E-C66E-4623-A201-7A1E21FF3A9A}"/>
              </a:ext>
            </a:extLst>
          </p:cNvPr>
          <p:cNvSpPr txBox="1"/>
          <p:nvPr/>
        </p:nvSpPr>
        <p:spPr>
          <a:xfrm>
            <a:off x="1209893" y="1789508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Request</a:t>
            </a:r>
            <a:endParaRPr lang="nl-NL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AF94D4B3-7FAA-4F3E-9040-77888212F7DC}"/>
              </a:ext>
            </a:extLst>
          </p:cNvPr>
          <p:cNvSpPr txBox="1"/>
          <p:nvPr/>
        </p:nvSpPr>
        <p:spPr>
          <a:xfrm>
            <a:off x="1075241" y="3844185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cs typeface="Cascadia Code" panose="020B0609020000020004" pitchFamily="49" charset="0"/>
              </a:rPr>
              <a:t>Response</a:t>
            </a:r>
          </a:p>
        </p:txBody>
      </p:sp>
      <p:pic>
        <p:nvPicPr>
          <p:cNvPr id="7" name="!!PCSend" descr="Internet silhouet">
            <a:extLst>
              <a:ext uri="{FF2B5EF4-FFF2-40B4-BE49-F238E27FC236}">
                <a16:creationId xmlns:a16="http://schemas.microsoft.com/office/drawing/2014/main" id="{11789305-917B-4A58-8A04-9B97892547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6767" y="2534969"/>
            <a:ext cx="914400" cy="914400"/>
          </a:xfrm>
          <a:prstGeom prst="rect">
            <a:avLst/>
          </a:prstGeom>
        </p:spPr>
      </p:pic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8E9B35FC-A984-4203-B6B0-D83DD700D23D}"/>
              </a:ext>
            </a:extLst>
          </p:cNvPr>
          <p:cNvCxnSpPr>
            <a:cxnSpLocks/>
            <a:stCxn id="7" idx="0"/>
            <a:endCxn id="15" idx="0"/>
          </p:cNvCxnSpPr>
          <p:nvPr/>
        </p:nvCxnSpPr>
        <p:spPr>
          <a:xfrm rot="16200000" flipH="1">
            <a:off x="5876316" y="-2427381"/>
            <a:ext cx="27333" cy="9952033"/>
          </a:xfrm>
          <a:prstGeom prst="bentConnector3">
            <a:avLst>
              <a:gd name="adj1" fmla="val -1270490"/>
            </a:avLst>
          </a:prstGeom>
          <a:ln w="4762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Rechte verbindingslijn 8">
            <a:extLst>
              <a:ext uri="{FF2B5EF4-FFF2-40B4-BE49-F238E27FC236}">
                <a16:creationId xmlns:a16="http://schemas.microsoft.com/office/drawing/2014/main" id="{199BFC9D-628B-4C79-ADDD-E1E2200CED42}"/>
              </a:ext>
            </a:extLst>
          </p:cNvPr>
          <p:cNvCxnSpPr>
            <a:cxnSpLocks/>
            <a:stCxn id="15" idx="2"/>
            <a:endCxn id="7" idx="2"/>
          </p:cNvCxnSpPr>
          <p:nvPr/>
        </p:nvCxnSpPr>
        <p:spPr>
          <a:xfrm rot="5400000">
            <a:off x="5878450" y="-1538182"/>
            <a:ext cx="23069" cy="9952033"/>
          </a:xfrm>
          <a:prstGeom prst="bentConnector3">
            <a:avLst>
              <a:gd name="adj1" fmla="val 1635576"/>
            </a:avLst>
          </a:prstGeom>
          <a:ln w="4762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!!Middleware">
            <a:extLst>
              <a:ext uri="{FF2B5EF4-FFF2-40B4-BE49-F238E27FC236}">
                <a16:creationId xmlns:a16="http://schemas.microsoft.com/office/drawing/2014/main" id="{1CD6AA0D-0FB2-46D0-BDA3-26FECBCA34E5}"/>
              </a:ext>
            </a:extLst>
          </p:cNvPr>
          <p:cNvSpPr/>
          <p:nvPr/>
        </p:nvSpPr>
        <p:spPr>
          <a:xfrm>
            <a:off x="2498399" y="2079001"/>
            <a:ext cx="7200000" cy="1830600"/>
          </a:xfrm>
          <a:prstGeom prst="rect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44000" rtlCol="0" anchor="t" anchorCtr="0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Middleware</a:t>
            </a:r>
          </a:p>
        </p:txBody>
      </p:sp>
      <p:sp>
        <p:nvSpPr>
          <p:cNvPr id="18" name="!!Routing">
            <a:extLst>
              <a:ext uri="{FF2B5EF4-FFF2-40B4-BE49-F238E27FC236}">
                <a16:creationId xmlns:a16="http://schemas.microsoft.com/office/drawing/2014/main" id="{8673F0AD-6937-4736-9BF4-F6AB0A9D1333}"/>
              </a:ext>
            </a:extLst>
          </p:cNvPr>
          <p:cNvSpPr/>
          <p:nvPr/>
        </p:nvSpPr>
        <p:spPr>
          <a:xfrm>
            <a:off x="5746853" y="2781820"/>
            <a:ext cx="1260000" cy="86399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tlCol="0" anchor="ctr" anchorCtr="0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Routing</a:t>
            </a: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4B5963A7-6F71-4D82-A868-D721904572E5}"/>
              </a:ext>
            </a:extLst>
          </p:cNvPr>
          <p:cNvSpPr/>
          <p:nvPr/>
        </p:nvSpPr>
        <p:spPr>
          <a:xfrm>
            <a:off x="4236120" y="2781820"/>
            <a:ext cx="1260000" cy="86399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Cookie </a:t>
            </a:r>
            <a:r>
              <a:rPr lang="nl-NL" dirty="0" err="1">
                <a:solidFill>
                  <a:schemeClr val="tx1"/>
                </a:solidFill>
              </a:rPr>
              <a:t>Handler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0369A318-0EB3-432B-8420-C1842BF43234}"/>
              </a:ext>
            </a:extLst>
          </p:cNvPr>
          <p:cNvSpPr/>
          <p:nvPr/>
        </p:nvSpPr>
        <p:spPr>
          <a:xfrm>
            <a:off x="7257579" y="2782387"/>
            <a:ext cx="1260000" cy="86399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Auth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Handler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5" name="Rechthoek 14">
            <a:extLst>
              <a:ext uri="{FF2B5EF4-FFF2-40B4-BE49-F238E27FC236}">
                <a16:creationId xmlns:a16="http://schemas.microsoft.com/office/drawing/2014/main" id="{62969335-BCEC-4849-86CB-58AC46E0B9D5}"/>
              </a:ext>
            </a:extLst>
          </p:cNvPr>
          <p:cNvSpPr/>
          <p:nvPr/>
        </p:nvSpPr>
        <p:spPr>
          <a:xfrm>
            <a:off x="10236000" y="2562302"/>
            <a:ext cx="1260000" cy="86399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Endpoint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E415340A-0EDE-4CE9-8510-09ED73CBEF96}"/>
              </a:ext>
            </a:extLst>
          </p:cNvPr>
          <p:cNvSpPr/>
          <p:nvPr/>
        </p:nvSpPr>
        <p:spPr>
          <a:xfrm>
            <a:off x="2726798" y="2781820"/>
            <a:ext cx="1260000" cy="86399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Error </a:t>
            </a:r>
            <a:r>
              <a:rPr lang="nl-NL" dirty="0" err="1">
                <a:solidFill>
                  <a:schemeClr val="tx1"/>
                </a:solidFill>
              </a:rPr>
              <a:t>Handler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40E3B7C9-4F47-47C9-8C8E-F7C528520901}"/>
              </a:ext>
            </a:extLst>
          </p:cNvPr>
          <p:cNvSpPr txBox="1"/>
          <p:nvPr/>
        </p:nvSpPr>
        <p:spPr>
          <a:xfrm>
            <a:off x="8716780" y="2781820"/>
            <a:ext cx="33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2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9814783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4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D80E00-9458-4A0A-8662-164A0BC1D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Routing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9145346-CE5C-4F93-9631-F8BC4752B3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19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1F38DBF-9BC6-426F-AFD6-FD03C856CF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 err="1"/>
              <a:t>Maps</a:t>
            </a:r>
            <a:r>
              <a:rPr lang="nl-NL" dirty="0"/>
              <a:t> </a:t>
            </a:r>
            <a:r>
              <a:rPr lang="nl-NL" dirty="0" err="1"/>
              <a:t>requests</a:t>
            </a:r>
            <a:r>
              <a:rPr lang="nl-NL" dirty="0"/>
              <a:t> to </a:t>
            </a:r>
            <a:r>
              <a:rPr lang="nl-NL" dirty="0" err="1"/>
              <a:t>endpoints</a:t>
            </a:r>
            <a:endParaRPr lang="nl-NL" dirty="0"/>
          </a:p>
          <a:p>
            <a:r>
              <a:rPr lang="nl-NL" dirty="0" err="1"/>
              <a:t>Decides</a:t>
            </a:r>
            <a:r>
              <a:rPr lang="nl-NL" dirty="0"/>
              <a:t> on HTTP </a:t>
            </a:r>
            <a:r>
              <a:rPr lang="nl-NL" dirty="0" err="1"/>
              <a:t>Verb</a:t>
            </a:r>
            <a:r>
              <a:rPr lang="nl-NL" dirty="0"/>
              <a:t> and URL</a:t>
            </a:r>
          </a:p>
          <a:p>
            <a:r>
              <a:rPr lang="nl-NL" dirty="0" err="1"/>
              <a:t>Parsing</a:t>
            </a:r>
            <a:r>
              <a:rPr lang="nl-NL" dirty="0"/>
              <a:t> of parameters/variables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3F0294C-4DB2-405B-AAAA-1535CC77405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nl-NL" sz="1200" dirty="0"/>
              <a:t>	Express</a:t>
            </a:r>
            <a:r>
              <a:rPr lang="nl-NL" dirty="0"/>
              <a:t>	</a:t>
            </a:r>
            <a:r>
              <a:rPr lang="nl-NL" sz="1800" dirty="0" err="1">
                <a:solidFill>
                  <a:schemeClr val="bg1">
                    <a:lumMod val="65000"/>
                  </a:schemeClr>
                </a:solidFill>
              </a:rPr>
              <a:t>app.</a:t>
            </a:r>
            <a:r>
              <a:rPr lang="nl-NL" sz="1800" dirty="0" err="1"/>
              <a:t>get</a:t>
            </a:r>
            <a:r>
              <a:rPr lang="nl-NL" sz="1800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nl-NL" sz="1800" dirty="0"/>
              <a:t>“/”</a:t>
            </a:r>
            <a:r>
              <a:rPr lang="nl-NL" sz="1800" dirty="0">
                <a:solidFill>
                  <a:schemeClr val="bg1">
                    <a:lumMod val="65000"/>
                  </a:schemeClr>
                </a:solidFill>
              </a:rPr>
              <a:t>, …);</a:t>
            </a:r>
            <a:br>
              <a:rPr lang="nl-NL" sz="1800" dirty="0"/>
            </a:br>
            <a:r>
              <a:rPr lang="nl-NL" sz="1800" dirty="0" err="1">
                <a:solidFill>
                  <a:schemeClr val="bg1">
                    <a:lumMod val="65000"/>
                  </a:schemeClr>
                </a:solidFill>
              </a:rPr>
              <a:t>app.</a:t>
            </a:r>
            <a:r>
              <a:rPr lang="nl-NL" sz="1800" dirty="0" err="1"/>
              <a:t>post</a:t>
            </a:r>
            <a:r>
              <a:rPr lang="nl-NL" sz="1800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nl-NL" sz="1800" dirty="0"/>
              <a:t>“/:</a:t>
            </a:r>
            <a:r>
              <a:rPr lang="nl-NL" sz="1800" dirty="0" err="1"/>
              <a:t>id</a:t>
            </a:r>
            <a:r>
              <a:rPr lang="nl-NL" sz="1800" dirty="0"/>
              <a:t>”</a:t>
            </a:r>
            <a:r>
              <a:rPr lang="nl-NL" sz="1800" dirty="0">
                <a:solidFill>
                  <a:schemeClr val="bg1">
                    <a:lumMod val="65000"/>
                  </a:schemeClr>
                </a:solidFill>
              </a:rPr>
              <a:t>, …);</a:t>
            </a:r>
          </a:p>
          <a:p>
            <a:r>
              <a:rPr lang="nl-NL" sz="1200" dirty="0"/>
              <a:t>	ASP.NET</a:t>
            </a:r>
            <a:r>
              <a:rPr lang="nl-NL" dirty="0"/>
              <a:t>	</a:t>
            </a:r>
            <a:r>
              <a:rPr lang="nl-NL" sz="1800" dirty="0">
                <a:solidFill>
                  <a:schemeClr val="bg1">
                    <a:lumMod val="65000"/>
                  </a:schemeClr>
                </a:solidFill>
              </a:rPr>
              <a:t>[Controller, </a:t>
            </a:r>
            <a:r>
              <a:rPr lang="nl-NL" sz="1800" dirty="0"/>
              <a:t>Route(“/”)</a:t>
            </a:r>
            <a:r>
              <a:rPr lang="nl-NL" sz="1800" dirty="0">
                <a:solidFill>
                  <a:schemeClr val="bg1">
                    <a:lumMod val="65000"/>
                  </a:schemeClr>
                </a:solidFill>
              </a:rPr>
              <a:t>]</a:t>
            </a:r>
            <a:br>
              <a:rPr lang="nl-NL" sz="1800" dirty="0"/>
            </a:br>
            <a:r>
              <a:rPr lang="nl-NL" sz="1800" dirty="0">
                <a:solidFill>
                  <a:schemeClr val="bg1">
                    <a:lumMod val="65000"/>
                  </a:schemeClr>
                </a:solidFill>
              </a:rPr>
              <a:t>public class </a:t>
            </a:r>
            <a:r>
              <a:rPr lang="nl-NL" sz="1800" dirty="0" err="1">
                <a:solidFill>
                  <a:schemeClr val="bg1">
                    <a:lumMod val="65000"/>
                  </a:schemeClr>
                </a:solidFill>
              </a:rPr>
              <a:t>MainController</a:t>
            </a:r>
            <a:r>
              <a:rPr lang="nl-NL" sz="1800" dirty="0">
                <a:solidFill>
                  <a:schemeClr val="bg1">
                    <a:lumMod val="65000"/>
                  </a:schemeClr>
                </a:solidFill>
              </a:rPr>
              <a:t> {</a:t>
            </a:r>
            <a:br>
              <a:rPr lang="nl-NL" sz="1800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nl-NL" sz="1800" dirty="0"/>
              <a:t>    [</a:t>
            </a:r>
            <a:r>
              <a:rPr lang="nl-NL" sz="1800" dirty="0" err="1"/>
              <a:t>HttpPost</a:t>
            </a:r>
            <a:r>
              <a:rPr lang="nl-NL" sz="1800" dirty="0"/>
              <a:t>(“{</a:t>
            </a:r>
            <a:r>
              <a:rPr lang="nl-NL" sz="1800" dirty="0" err="1"/>
              <a:t>id</a:t>
            </a:r>
            <a:r>
              <a:rPr lang="nl-NL" sz="1800" dirty="0"/>
              <a:t>}”)] </a:t>
            </a:r>
            <a:r>
              <a:rPr lang="nl-NL" sz="1800" dirty="0">
                <a:solidFill>
                  <a:schemeClr val="bg1">
                    <a:lumMod val="65000"/>
                  </a:schemeClr>
                </a:solidFill>
              </a:rPr>
              <a:t>public </a:t>
            </a:r>
            <a:r>
              <a:rPr lang="nl-NL" sz="1800" dirty="0" err="1">
                <a:solidFill>
                  <a:schemeClr val="bg1">
                    <a:lumMod val="65000"/>
                  </a:schemeClr>
                </a:solidFill>
              </a:rPr>
              <a:t>void</a:t>
            </a:r>
            <a:r>
              <a:rPr lang="nl-NL" sz="1800" dirty="0">
                <a:solidFill>
                  <a:schemeClr val="bg1">
                    <a:lumMod val="65000"/>
                  </a:schemeClr>
                </a:solidFill>
              </a:rPr>
              <a:t> Post(</a:t>
            </a:r>
            <a:r>
              <a:rPr lang="nl-NL" sz="1800" dirty="0"/>
              <a:t>string </a:t>
            </a:r>
            <a:r>
              <a:rPr lang="nl-NL" sz="1800" dirty="0" err="1"/>
              <a:t>id</a:t>
            </a:r>
            <a:r>
              <a:rPr lang="nl-NL" sz="1800" dirty="0">
                <a:solidFill>
                  <a:schemeClr val="bg1">
                    <a:lumMod val="65000"/>
                  </a:schemeClr>
                </a:solidFill>
              </a:rPr>
              <a:t>) {}</a:t>
            </a:r>
            <a:br>
              <a:rPr lang="nl-NL" sz="1800" dirty="0"/>
            </a:br>
            <a:r>
              <a:rPr lang="nl-NL" sz="1800" dirty="0">
                <a:solidFill>
                  <a:schemeClr val="bg1">
                    <a:lumMod val="65000"/>
                  </a:schemeClr>
                </a:solidFill>
              </a:rPr>
              <a:t>}</a:t>
            </a:r>
            <a:endParaRPr lang="nl-NL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338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4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216DC4DD-15DB-492A-8BB9-B65838209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Other</a:t>
            </a:r>
            <a:r>
              <a:rPr lang="nl-NL" dirty="0"/>
              <a:t> Framework Features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AB90E2DF-C481-404B-9240-BCCBA0FE9E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20</a:t>
            </a:fld>
            <a:endParaRPr lang="nl-NL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5D4F94A8-32E3-45E8-8310-73C01930BE8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0000" y="2970000"/>
            <a:ext cx="8280000" cy="2998800"/>
          </a:xfrm>
        </p:spPr>
        <p:txBody>
          <a:bodyPr/>
          <a:lstStyle/>
          <a:p>
            <a:r>
              <a:rPr lang="nl-NL" dirty="0"/>
              <a:t>Input </a:t>
            </a:r>
            <a:r>
              <a:rPr lang="nl-NL" dirty="0" err="1"/>
              <a:t>validation</a:t>
            </a:r>
            <a:endParaRPr lang="nl-NL" dirty="0"/>
          </a:p>
          <a:p>
            <a:pPr lvl="3"/>
            <a:r>
              <a:rPr lang="nl-NL" dirty="0"/>
              <a:t>Express: </a:t>
            </a:r>
            <a:r>
              <a:rPr lang="nl-NL" dirty="0" err="1"/>
              <a:t>external</a:t>
            </a:r>
            <a:r>
              <a:rPr lang="nl-NL" dirty="0"/>
              <a:t> </a:t>
            </a:r>
            <a:r>
              <a:rPr lang="nl-NL" dirty="0" err="1"/>
              <a:t>plugin</a:t>
            </a:r>
            <a:r>
              <a:rPr lang="nl-NL" dirty="0"/>
              <a:t> </a:t>
            </a:r>
            <a:r>
              <a:rPr lang="nl-NL" dirty="0" err="1"/>
              <a:t>such</a:t>
            </a:r>
            <a:r>
              <a:rPr lang="nl-NL" dirty="0"/>
              <a:t> as </a:t>
            </a:r>
            <a:r>
              <a:rPr lang="nl-NL" dirty="0" err="1"/>
              <a:t>express-validator</a:t>
            </a:r>
            <a:endParaRPr lang="nl-NL" dirty="0"/>
          </a:p>
          <a:p>
            <a:pPr lvl="3"/>
            <a:r>
              <a:rPr lang="nl-NL" dirty="0"/>
              <a:t>ASP.NET: </a:t>
            </a:r>
            <a:r>
              <a:rPr lang="nl-NL" dirty="0" err="1"/>
              <a:t>annotate</a:t>
            </a:r>
            <a:r>
              <a:rPr lang="nl-NL" dirty="0"/>
              <a:t> </a:t>
            </a:r>
            <a:r>
              <a:rPr lang="nl-NL" dirty="0" err="1"/>
              <a:t>your</a:t>
            </a:r>
            <a:r>
              <a:rPr lang="nl-NL" dirty="0"/>
              <a:t> model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attributes</a:t>
            </a:r>
            <a:endParaRPr lang="nl-NL" dirty="0"/>
          </a:p>
          <a:p>
            <a:endParaRPr lang="nl-NL" dirty="0"/>
          </a:p>
          <a:p>
            <a:r>
              <a:rPr lang="nl-NL" dirty="0"/>
              <a:t>Access control</a:t>
            </a:r>
          </a:p>
          <a:p>
            <a:pPr lvl="3"/>
            <a:r>
              <a:rPr lang="nl-NL" dirty="0"/>
              <a:t>Express: </a:t>
            </a:r>
            <a:r>
              <a:rPr lang="nl-NL" dirty="0" err="1"/>
              <a:t>external</a:t>
            </a:r>
            <a:r>
              <a:rPr lang="nl-NL" dirty="0"/>
              <a:t> </a:t>
            </a:r>
            <a:r>
              <a:rPr lang="nl-NL" dirty="0" err="1"/>
              <a:t>plugin</a:t>
            </a:r>
            <a:r>
              <a:rPr lang="nl-NL" dirty="0"/>
              <a:t> </a:t>
            </a:r>
            <a:r>
              <a:rPr lang="nl-NL" dirty="0" err="1"/>
              <a:t>such</a:t>
            </a:r>
            <a:r>
              <a:rPr lang="nl-NL" dirty="0"/>
              <a:t> as Passport.js</a:t>
            </a:r>
          </a:p>
          <a:p>
            <a:pPr lvl="3"/>
            <a:r>
              <a:rPr lang="nl-NL" dirty="0"/>
              <a:t>ASP.NET: </a:t>
            </a:r>
            <a:r>
              <a:rPr lang="nl-NL" dirty="0" err="1"/>
              <a:t>integrated</a:t>
            </a:r>
            <a:r>
              <a:rPr lang="nl-NL" dirty="0"/>
              <a:t> </a:t>
            </a:r>
            <a:r>
              <a:rPr lang="nl-NL" dirty="0" err="1"/>
              <a:t>pluggable</a:t>
            </a:r>
            <a:r>
              <a:rPr lang="nl-NL" dirty="0"/>
              <a:t> </a:t>
            </a:r>
            <a:r>
              <a:rPr lang="nl-NL" dirty="0" err="1"/>
              <a:t>auth</a:t>
            </a:r>
            <a:r>
              <a:rPr lang="nl-NL" dirty="0"/>
              <a:t> system</a:t>
            </a:r>
          </a:p>
        </p:txBody>
      </p:sp>
    </p:spTree>
    <p:extLst>
      <p:ext uri="{BB962C8B-B14F-4D97-AF65-F5344CB8AC3E}">
        <p14:creationId xmlns:p14="http://schemas.microsoft.com/office/powerpoint/2010/main" val="14898369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 dir="ou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2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E69B09-9694-41C9-8A17-DD37CF052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Backend Architecture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C15DB34-7867-422E-A162-839BE861B2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21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848C2A2-C295-4678-9221-F98B4DA1EE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0000" y="2970000"/>
            <a:ext cx="8280000" cy="3193200"/>
          </a:xfrm>
        </p:spPr>
        <p:txBody>
          <a:bodyPr/>
          <a:lstStyle/>
          <a:p>
            <a:r>
              <a:rPr lang="nl-NL" dirty="0"/>
              <a:t>How to </a:t>
            </a:r>
            <a:r>
              <a:rPr lang="nl-NL" dirty="0" err="1"/>
              <a:t>organise</a:t>
            </a:r>
            <a:r>
              <a:rPr lang="nl-NL" dirty="0"/>
              <a:t> </a:t>
            </a:r>
            <a:r>
              <a:rPr lang="nl-NL" dirty="0" err="1"/>
              <a:t>your</a:t>
            </a:r>
            <a:r>
              <a:rPr lang="nl-NL" dirty="0"/>
              <a:t> code?</a:t>
            </a:r>
          </a:p>
          <a:p>
            <a:r>
              <a:rPr lang="nl-NL" dirty="0"/>
              <a:t>How to </a:t>
            </a:r>
            <a:r>
              <a:rPr lang="nl-NL" dirty="0" err="1"/>
              <a:t>reduce</a:t>
            </a:r>
            <a:r>
              <a:rPr lang="nl-NL" dirty="0"/>
              <a:t> code </a:t>
            </a:r>
            <a:r>
              <a:rPr lang="nl-NL" dirty="0" err="1"/>
              <a:t>duplication</a:t>
            </a:r>
            <a:r>
              <a:rPr lang="nl-NL" dirty="0"/>
              <a:t>?</a:t>
            </a:r>
          </a:p>
          <a:p>
            <a:pPr lvl="3"/>
            <a:r>
              <a:rPr lang="nl-NL" dirty="0" err="1"/>
              <a:t>Where</a:t>
            </a:r>
            <a:r>
              <a:rPr lang="nl-NL" dirty="0"/>
              <a:t> to </a:t>
            </a:r>
            <a:r>
              <a:rPr lang="nl-NL" dirty="0" err="1"/>
              <a:t>define</a:t>
            </a:r>
            <a:r>
              <a:rPr lang="nl-NL" dirty="0"/>
              <a:t> and handle input </a:t>
            </a:r>
            <a:r>
              <a:rPr lang="nl-NL" dirty="0" err="1"/>
              <a:t>validation</a:t>
            </a:r>
            <a:r>
              <a:rPr lang="nl-NL" dirty="0"/>
              <a:t>?</a:t>
            </a:r>
          </a:p>
          <a:p>
            <a:pPr lvl="3"/>
            <a:r>
              <a:rPr lang="nl-NL" dirty="0" err="1"/>
              <a:t>Where</a:t>
            </a:r>
            <a:r>
              <a:rPr lang="nl-NL" dirty="0"/>
              <a:t> to </a:t>
            </a:r>
            <a:r>
              <a:rPr lang="nl-NL" dirty="0" err="1"/>
              <a:t>perform</a:t>
            </a:r>
            <a:r>
              <a:rPr lang="nl-NL" dirty="0"/>
              <a:t> </a:t>
            </a:r>
            <a:r>
              <a:rPr lang="nl-NL" dirty="0" err="1"/>
              <a:t>your</a:t>
            </a:r>
            <a:r>
              <a:rPr lang="nl-NL" dirty="0"/>
              <a:t> DB </a:t>
            </a:r>
            <a:r>
              <a:rPr lang="nl-NL" dirty="0" err="1"/>
              <a:t>queries</a:t>
            </a:r>
            <a:r>
              <a:rPr lang="nl-NL" dirty="0"/>
              <a:t>?</a:t>
            </a:r>
          </a:p>
          <a:p>
            <a:pPr lvl="3"/>
            <a:r>
              <a:rPr lang="nl-NL" dirty="0"/>
              <a:t>(adv) How to deal </a:t>
            </a:r>
            <a:r>
              <a:rPr lang="nl-NL" dirty="0" err="1"/>
              <a:t>with</a:t>
            </a:r>
            <a:r>
              <a:rPr lang="nl-NL" dirty="0"/>
              <a:t> multiple entry points? (API, website, mobile app)</a:t>
            </a:r>
          </a:p>
          <a:p>
            <a:r>
              <a:rPr lang="nl-NL" dirty="0"/>
              <a:t>(adv) How to handle </a:t>
            </a:r>
            <a:r>
              <a:rPr lang="nl-NL" dirty="0" err="1"/>
              <a:t>application</a:t>
            </a:r>
            <a:r>
              <a:rPr lang="nl-NL" dirty="0"/>
              <a:t> </a:t>
            </a:r>
            <a:r>
              <a:rPr lang="nl-NL" dirty="0" err="1"/>
              <a:t>configuration</a:t>
            </a:r>
            <a:r>
              <a:rPr lang="nl-NL" dirty="0"/>
              <a:t>?</a:t>
            </a:r>
          </a:p>
          <a:p>
            <a:r>
              <a:rPr lang="nl-NL" dirty="0"/>
              <a:t>(adv) How to </a:t>
            </a:r>
            <a:r>
              <a:rPr lang="nl-NL" dirty="0" err="1"/>
              <a:t>reduce</a:t>
            </a:r>
            <a:r>
              <a:rPr lang="nl-NL" dirty="0"/>
              <a:t> </a:t>
            </a:r>
            <a:r>
              <a:rPr lang="nl-NL" dirty="0" err="1"/>
              <a:t>coupling</a:t>
            </a:r>
            <a:r>
              <a:rPr lang="nl-NL" dirty="0"/>
              <a:t>?</a:t>
            </a:r>
          </a:p>
          <a:p>
            <a:r>
              <a:rPr lang="nl-NL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66622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2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6C82F8-C4D9-4315-8D86-CE02C369D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Notice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4B14350-5DD4-42D0-98CB-02986021B3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22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95A13DA-AFFA-4154-96FF-91CC558630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Software </a:t>
            </a:r>
            <a:r>
              <a:rPr lang="nl-NL" dirty="0" err="1"/>
              <a:t>architecture</a:t>
            </a:r>
            <a:r>
              <a:rPr lang="nl-NL" dirty="0"/>
              <a:t> best </a:t>
            </a:r>
            <a:r>
              <a:rPr lang="nl-NL" dirty="0" err="1"/>
              <a:t>practices</a:t>
            </a:r>
            <a:endParaRPr lang="nl-NL" dirty="0"/>
          </a:p>
          <a:p>
            <a:r>
              <a:rPr lang="nl-NL" dirty="0" err="1"/>
              <a:t>Applicable</a:t>
            </a:r>
            <a:r>
              <a:rPr lang="nl-NL" dirty="0"/>
              <a:t>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only</a:t>
            </a:r>
            <a:r>
              <a:rPr lang="nl-NL" dirty="0"/>
              <a:t> to web back-</a:t>
            </a:r>
            <a:r>
              <a:rPr lang="nl-NL" dirty="0" err="1"/>
              <a:t>ends</a:t>
            </a:r>
            <a:endParaRPr lang="nl-NL" dirty="0"/>
          </a:p>
          <a:p>
            <a:r>
              <a:rPr lang="nl-NL" dirty="0"/>
              <a:t>Just </a:t>
            </a:r>
            <a:r>
              <a:rPr lang="nl-NL" dirty="0" err="1"/>
              <a:t>some</a:t>
            </a:r>
            <a:r>
              <a:rPr lang="nl-NL" dirty="0"/>
              <a:t> </a:t>
            </a:r>
            <a:r>
              <a:rPr lang="nl-NL" dirty="0" err="1"/>
              <a:t>general</a:t>
            </a:r>
            <a:r>
              <a:rPr lang="nl-NL" dirty="0"/>
              <a:t> tips &amp; tricks</a:t>
            </a:r>
          </a:p>
        </p:txBody>
      </p:sp>
    </p:spTree>
    <p:extLst>
      <p:ext uri="{BB962C8B-B14F-4D97-AF65-F5344CB8AC3E}">
        <p14:creationId xmlns:p14="http://schemas.microsoft.com/office/powerpoint/2010/main" val="2024955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2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2331A0-133E-40AD-91D9-4FC1C9929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Code </a:t>
            </a:r>
            <a:r>
              <a:rPr lang="nl-NL" dirty="0" err="1"/>
              <a:t>organisation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556B6C-1F14-46DE-BA7B-A8F9499C57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23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5D30873-0893-4B15-9898-BDCFFF508A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 err="1"/>
              <a:t>Various</a:t>
            </a:r>
            <a:r>
              <a:rPr lang="nl-NL" dirty="0"/>
              <a:t> </a:t>
            </a:r>
            <a:r>
              <a:rPr lang="nl-NL" dirty="0" err="1"/>
              <a:t>patterns</a:t>
            </a:r>
            <a:r>
              <a:rPr lang="nl-NL" dirty="0"/>
              <a:t>: MVC, MVP, MVVM, …</a:t>
            </a:r>
          </a:p>
          <a:p>
            <a:r>
              <a:rPr lang="nl-NL" dirty="0"/>
              <a:t>Common for web development: Model-View-Controller</a:t>
            </a:r>
          </a:p>
        </p:txBody>
      </p:sp>
      <p:grpSp>
        <p:nvGrpSpPr>
          <p:cNvPr id="39" name="Groep 38">
            <a:extLst>
              <a:ext uri="{FF2B5EF4-FFF2-40B4-BE49-F238E27FC236}">
                <a16:creationId xmlns:a16="http://schemas.microsoft.com/office/drawing/2014/main" id="{1224BCC7-10F9-4ECD-AAF3-0804FE87DC8C}"/>
              </a:ext>
            </a:extLst>
          </p:cNvPr>
          <p:cNvGrpSpPr/>
          <p:nvPr/>
        </p:nvGrpSpPr>
        <p:grpSpPr>
          <a:xfrm>
            <a:off x="934800" y="4353797"/>
            <a:ext cx="10322400" cy="1271873"/>
            <a:chOff x="934800" y="4660924"/>
            <a:chExt cx="10322400" cy="1271873"/>
          </a:xfrm>
        </p:grpSpPr>
        <p:pic>
          <p:nvPicPr>
            <p:cNvPr id="12" name="Graphic 11" descr="Browservenster silhouet">
              <a:extLst>
                <a:ext uri="{FF2B5EF4-FFF2-40B4-BE49-F238E27FC236}">
                  <a16:creationId xmlns:a16="http://schemas.microsoft.com/office/drawing/2014/main" id="{DF7267E6-1764-4293-86A5-E6094F1B3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342800" y="4838400"/>
              <a:ext cx="914400" cy="914400"/>
            </a:xfrm>
            <a:prstGeom prst="rect">
              <a:avLst/>
            </a:prstGeom>
          </p:spPr>
        </p:pic>
        <p:pic>
          <p:nvPicPr>
            <p:cNvPr id="14" name="Graphic 13" descr="Database silhouet">
              <a:extLst>
                <a:ext uri="{FF2B5EF4-FFF2-40B4-BE49-F238E27FC236}">
                  <a16:creationId xmlns:a16="http://schemas.microsoft.com/office/drawing/2014/main" id="{E550C2C6-70B7-4C09-AD80-313C40358D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34800" y="4838400"/>
              <a:ext cx="914400" cy="914400"/>
            </a:xfrm>
            <a:prstGeom prst="rect">
              <a:avLst/>
            </a:prstGeom>
          </p:spPr>
        </p:pic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805C466A-0396-43E3-9706-B6C8D4E2E692}"/>
                </a:ext>
              </a:extLst>
            </p:cNvPr>
            <p:cNvSpPr/>
            <p:nvPr/>
          </p:nvSpPr>
          <p:spPr>
            <a:xfrm>
              <a:off x="2149801" y="4660924"/>
              <a:ext cx="2426400" cy="126934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rtlCol="0" anchor="t" anchorCtr="0"/>
            <a:lstStyle/>
            <a:p>
              <a:pPr algn="ctr">
                <a:spcAft>
                  <a:spcPts val="1200"/>
                </a:spcAft>
              </a:pPr>
              <a:r>
                <a:rPr lang="nl-NL" dirty="0">
                  <a:solidFill>
                    <a:schemeClr val="tx1"/>
                  </a:solidFill>
                </a:rPr>
                <a:t>Model</a:t>
              </a:r>
            </a:p>
            <a:p>
              <a:r>
                <a:rPr lang="nl-NL" sz="1200" dirty="0">
                  <a:solidFill>
                    <a:schemeClr val="tx1"/>
                  </a:solidFill>
                </a:rPr>
                <a:t>The data </a:t>
              </a:r>
              <a:r>
                <a:rPr lang="nl-NL" sz="1200" dirty="0" err="1">
                  <a:solidFill>
                    <a:schemeClr val="tx1"/>
                  </a:solidFill>
                </a:rPr>
                <a:t>itself</a:t>
              </a:r>
              <a:r>
                <a:rPr lang="nl-NL" sz="1200" dirty="0">
                  <a:solidFill>
                    <a:schemeClr val="tx1"/>
                  </a:solidFill>
                </a:rPr>
                <a:t> – </a:t>
              </a:r>
              <a:r>
                <a:rPr lang="nl-NL" sz="1200" dirty="0" err="1">
                  <a:solidFill>
                    <a:schemeClr val="tx1"/>
                  </a:solidFill>
                </a:rPr>
                <a:t>encapsulating</a:t>
              </a:r>
              <a:r>
                <a:rPr lang="nl-NL" sz="1200" dirty="0">
                  <a:solidFill>
                    <a:schemeClr val="tx1"/>
                  </a:solidFill>
                </a:rPr>
                <a:t> business logic and </a:t>
              </a:r>
              <a:r>
                <a:rPr lang="nl-NL" sz="1200" dirty="0" err="1">
                  <a:solidFill>
                    <a:schemeClr val="tx1"/>
                  </a:solidFill>
                </a:rPr>
                <a:t>hiding</a:t>
              </a:r>
              <a:r>
                <a:rPr lang="nl-NL" sz="1200" dirty="0">
                  <a:solidFill>
                    <a:schemeClr val="tx1"/>
                  </a:solidFill>
                </a:rPr>
                <a:t> </a:t>
              </a:r>
              <a:r>
                <a:rPr lang="nl-NL" sz="1200" dirty="0" err="1">
                  <a:solidFill>
                    <a:schemeClr val="tx1"/>
                  </a:solidFill>
                </a:rPr>
                <a:t>implementation</a:t>
              </a:r>
              <a:r>
                <a:rPr lang="nl-NL" sz="1200" dirty="0">
                  <a:solidFill>
                    <a:schemeClr val="tx1"/>
                  </a:solidFill>
                </a:rPr>
                <a:t> details.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5377027-7B0A-4459-9384-25A86B309677}"/>
                </a:ext>
              </a:extLst>
            </p:cNvPr>
            <p:cNvSpPr/>
            <p:nvPr/>
          </p:nvSpPr>
          <p:spPr>
            <a:xfrm>
              <a:off x="7609801" y="4663448"/>
              <a:ext cx="2426400" cy="126934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rtlCol="0" anchor="t" anchorCtr="0"/>
            <a:lstStyle/>
            <a:p>
              <a:pPr algn="ctr">
                <a:spcAft>
                  <a:spcPts val="1200"/>
                </a:spcAft>
              </a:pPr>
              <a:r>
                <a:rPr lang="nl-NL" dirty="0">
                  <a:solidFill>
                    <a:schemeClr val="tx1"/>
                  </a:solidFill>
                </a:rPr>
                <a:t>View</a:t>
              </a:r>
            </a:p>
            <a:p>
              <a:r>
                <a:rPr lang="nl-NL" sz="1200" dirty="0" err="1">
                  <a:solidFill>
                    <a:schemeClr val="tx1"/>
                  </a:solidFill>
                </a:rPr>
                <a:t>Representation</a:t>
              </a:r>
              <a:r>
                <a:rPr lang="nl-NL" sz="1200" dirty="0">
                  <a:solidFill>
                    <a:schemeClr val="tx1"/>
                  </a:solidFill>
                </a:rPr>
                <a:t> of data </a:t>
              </a:r>
              <a:r>
                <a:rPr lang="nl-NL" sz="1200" dirty="0" err="1">
                  <a:solidFill>
                    <a:schemeClr val="tx1"/>
                  </a:solidFill>
                </a:rPr>
                <a:t>tailored</a:t>
              </a:r>
              <a:r>
                <a:rPr lang="nl-NL" sz="1200" dirty="0">
                  <a:solidFill>
                    <a:schemeClr val="tx1"/>
                  </a:solidFill>
                </a:rPr>
                <a:t> to </a:t>
              </a:r>
              <a:r>
                <a:rPr lang="nl-NL" sz="1200" dirty="0" err="1">
                  <a:solidFill>
                    <a:schemeClr val="tx1"/>
                  </a:solidFill>
                </a:rPr>
                <a:t>application</a:t>
              </a:r>
              <a:r>
                <a:rPr lang="nl-NL" sz="1200" dirty="0">
                  <a:solidFill>
                    <a:schemeClr val="tx1"/>
                  </a:solidFill>
                </a:rPr>
                <a:t> – e.g. </a:t>
              </a:r>
              <a:r>
                <a:rPr lang="nl-NL" sz="1200" dirty="0" err="1">
                  <a:solidFill>
                    <a:schemeClr val="tx1"/>
                  </a:solidFill>
                </a:rPr>
                <a:t>reduced</a:t>
              </a:r>
              <a:r>
                <a:rPr lang="nl-NL" sz="1200" dirty="0">
                  <a:solidFill>
                    <a:schemeClr val="tx1"/>
                  </a:solidFill>
                </a:rPr>
                <a:t> info or </a:t>
              </a:r>
              <a:r>
                <a:rPr lang="nl-NL" sz="1200" dirty="0" err="1">
                  <a:solidFill>
                    <a:schemeClr val="tx1"/>
                  </a:solidFill>
                </a:rPr>
                <a:t>statistics</a:t>
              </a:r>
              <a:r>
                <a:rPr lang="nl-NL" sz="1200" dirty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82F30138-974E-4909-84B3-2B432DC4701E}"/>
                </a:ext>
              </a:extLst>
            </p:cNvPr>
            <p:cNvSpPr/>
            <p:nvPr/>
          </p:nvSpPr>
          <p:spPr>
            <a:xfrm>
              <a:off x="4882800" y="4660924"/>
              <a:ext cx="2426400" cy="126934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rtlCol="0" anchor="t" anchorCtr="0"/>
            <a:lstStyle/>
            <a:p>
              <a:pPr algn="ctr">
                <a:spcAft>
                  <a:spcPts val="1200"/>
                </a:spcAft>
              </a:pPr>
              <a:r>
                <a:rPr lang="nl-NL" dirty="0">
                  <a:solidFill>
                    <a:schemeClr val="tx1"/>
                  </a:solidFill>
                </a:rPr>
                <a:t>Controller</a:t>
              </a:r>
            </a:p>
            <a:p>
              <a:r>
                <a:rPr lang="nl-NL" sz="1200" dirty="0">
                  <a:solidFill>
                    <a:schemeClr val="tx1"/>
                  </a:solidFill>
                </a:rPr>
                <a:t>Handles user </a:t>
              </a:r>
              <a:r>
                <a:rPr lang="nl-NL" sz="1200" dirty="0" err="1">
                  <a:solidFill>
                    <a:schemeClr val="tx1"/>
                  </a:solidFill>
                </a:rPr>
                <a:t>interaction</a:t>
              </a:r>
              <a:r>
                <a:rPr lang="nl-NL" sz="1200" dirty="0">
                  <a:solidFill>
                    <a:schemeClr val="tx1"/>
                  </a:solidFill>
                </a:rPr>
                <a:t>, changes model, updates view.</a:t>
              </a:r>
            </a:p>
          </p:txBody>
        </p:sp>
        <p:cxnSp>
          <p:nvCxnSpPr>
            <p:cNvPr id="21" name="Rechte verbindingslijn met pijl 20">
              <a:extLst>
                <a:ext uri="{FF2B5EF4-FFF2-40B4-BE49-F238E27FC236}">
                  <a16:creationId xmlns:a16="http://schemas.microsoft.com/office/drawing/2014/main" id="{F21F45EE-166B-41BE-8F49-656F41567F25}"/>
                </a:ext>
              </a:extLst>
            </p:cNvPr>
            <p:cNvCxnSpPr>
              <a:cxnSpLocks/>
              <a:endCxn id="15" idx="1"/>
            </p:cNvCxnSpPr>
            <p:nvPr/>
          </p:nvCxnSpPr>
          <p:spPr>
            <a:xfrm>
              <a:off x="1648800" y="5295599"/>
              <a:ext cx="50100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Rechte verbindingslijn met pijl 22">
              <a:extLst>
                <a:ext uri="{FF2B5EF4-FFF2-40B4-BE49-F238E27FC236}">
                  <a16:creationId xmlns:a16="http://schemas.microsoft.com/office/drawing/2014/main" id="{AA48493E-BF1D-4756-BE01-C61486D2C720}"/>
                </a:ext>
              </a:extLst>
            </p:cNvPr>
            <p:cNvCxnSpPr>
              <a:cxnSpLocks/>
              <a:stCxn id="15" idx="3"/>
              <a:endCxn id="19" idx="1"/>
            </p:cNvCxnSpPr>
            <p:nvPr/>
          </p:nvCxnSpPr>
          <p:spPr>
            <a:xfrm>
              <a:off x="4576201" y="5295599"/>
              <a:ext cx="30659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Rechte verbindingslijn met pijl 25">
              <a:extLst>
                <a:ext uri="{FF2B5EF4-FFF2-40B4-BE49-F238E27FC236}">
                  <a16:creationId xmlns:a16="http://schemas.microsoft.com/office/drawing/2014/main" id="{DEEA598F-1958-481B-88EC-B1AA9062535B}"/>
                </a:ext>
              </a:extLst>
            </p:cNvPr>
            <p:cNvCxnSpPr>
              <a:cxnSpLocks/>
              <a:stCxn id="19" idx="3"/>
              <a:endCxn id="18" idx="1"/>
            </p:cNvCxnSpPr>
            <p:nvPr/>
          </p:nvCxnSpPr>
          <p:spPr>
            <a:xfrm>
              <a:off x="7309200" y="5295599"/>
              <a:ext cx="300601" cy="2524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Rechte verbindingslijn met pijl 28">
              <a:extLst>
                <a:ext uri="{FF2B5EF4-FFF2-40B4-BE49-F238E27FC236}">
                  <a16:creationId xmlns:a16="http://schemas.microsoft.com/office/drawing/2014/main" id="{05C1F2E1-3656-474A-8A29-5F2B2CBC0D2A}"/>
                </a:ext>
              </a:extLst>
            </p:cNvPr>
            <p:cNvCxnSpPr>
              <a:cxnSpLocks/>
              <a:stCxn id="12" idx="2"/>
              <a:endCxn id="19" idx="2"/>
            </p:cNvCxnSpPr>
            <p:nvPr/>
          </p:nvCxnSpPr>
          <p:spPr>
            <a:xfrm rot="5400000">
              <a:off x="8359264" y="3489536"/>
              <a:ext cx="177473" cy="4704000"/>
            </a:xfrm>
            <a:prstGeom prst="curvedConnector3">
              <a:avLst>
                <a:gd name="adj1" fmla="val 468168"/>
              </a:avLst>
            </a:prstGeom>
            <a:ln w="3810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Rechte verbindingslijn met pijl 35">
              <a:extLst>
                <a:ext uri="{FF2B5EF4-FFF2-40B4-BE49-F238E27FC236}">
                  <a16:creationId xmlns:a16="http://schemas.microsoft.com/office/drawing/2014/main" id="{F7D6679E-B8FF-42DF-8A4A-CF7F20204D67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 flipV="1">
              <a:off x="10036201" y="5291877"/>
              <a:ext cx="393674" cy="6246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71011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7.40741E-7 L -0.00052 -0.14167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708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4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6227 L -3.95833E-6 -2.96296E-6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3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4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6227 L -3.95833E-6 -2.96296E-6 " pathEditMode="relative" rAng="0" ptsTypes="AA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3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4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2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9924DB-014D-41CF-8879-F9AE6E802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Warnings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CAA88CDC-86C4-4C81-8758-560759B173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24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F6F498F-F08B-452E-BB6D-C9A4AA4602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 err="1"/>
              <a:t>Only</a:t>
            </a:r>
            <a:r>
              <a:rPr lang="nl-NL" dirty="0"/>
              <a:t> single point of </a:t>
            </a:r>
            <a:r>
              <a:rPr lang="nl-NL" dirty="0" err="1"/>
              <a:t>interaction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user code in </a:t>
            </a:r>
            <a:r>
              <a:rPr lang="nl-NL" dirty="0" err="1"/>
              <a:t>request</a:t>
            </a:r>
            <a:r>
              <a:rPr lang="nl-NL" dirty="0"/>
              <a:t> </a:t>
            </a:r>
            <a:r>
              <a:rPr lang="nl-NL" dirty="0" err="1"/>
              <a:t>cycle</a:t>
            </a:r>
            <a:endParaRPr lang="nl-NL" dirty="0"/>
          </a:p>
          <a:p>
            <a:pPr lvl="2"/>
            <a:r>
              <a:rPr lang="nl-NL" dirty="0"/>
              <a:t>Controller </a:t>
            </a:r>
            <a:r>
              <a:rPr lang="nl-NL" dirty="0" err="1"/>
              <a:t>should</a:t>
            </a:r>
            <a:r>
              <a:rPr lang="nl-NL" dirty="0"/>
              <a:t> handle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application</a:t>
            </a:r>
            <a:r>
              <a:rPr lang="nl-NL" dirty="0"/>
              <a:t> logic</a:t>
            </a:r>
          </a:p>
          <a:p>
            <a:r>
              <a:rPr lang="nl-NL" dirty="0" err="1"/>
              <a:t>Explicitly</a:t>
            </a:r>
            <a:r>
              <a:rPr lang="nl-NL" dirty="0"/>
              <a:t> </a:t>
            </a:r>
            <a:r>
              <a:rPr lang="nl-NL" dirty="0" err="1"/>
              <a:t>isolate</a:t>
            </a:r>
            <a:r>
              <a:rPr lang="nl-NL" dirty="0"/>
              <a:t> model, controller and view</a:t>
            </a:r>
          </a:p>
          <a:p>
            <a:pPr lvl="2"/>
            <a:r>
              <a:rPr lang="nl-NL" dirty="0" err="1"/>
              <a:t>Prevent</a:t>
            </a:r>
            <a:r>
              <a:rPr lang="nl-NL" dirty="0"/>
              <a:t> </a:t>
            </a:r>
            <a:r>
              <a:rPr lang="nl-NL" dirty="0" err="1"/>
              <a:t>leaky</a:t>
            </a:r>
            <a:r>
              <a:rPr lang="nl-NL" dirty="0"/>
              <a:t> </a:t>
            </a:r>
            <a:r>
              <a:rPr lang="nl-NL" dirty="0" err="1"/>
              <a:t>abstractions</a:t>
            </a:r>
            <a:r>
              <a:rPr lang="nl-NL" dirty="0"/>
              <a:t>!</a:t>
            </a:r>
          </a:p>
          <a:p>
            <a:pPr lvl="2"/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appropriate</a:t>
            </a:r>
            <a:r>
              <a:rPr lang="nl-NL" dirty="0"/>
              <a:t> data </a:t>
            </a:r>
            <a:r>
              <a:rPr lang="nl-NL" dirty="0" err="1"/>
              <a:t>models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81533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2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1AAEEC-AF27-4EC7-82BF-7A2475587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Approach #1: Put it </a:t>
            </a:r>
            <a:r>
              <a:rPr lang="nl-NL" dirty="0" err="1"/>
              <a:t>all</a:t>
            </a:r>
            <a:r>
              <a:rPr lang="nl-NL" dirty="0"/>
              <a:t> in the </a:t>
            </a:r>
            <a:r>
              <a:rPr lang="nl-NL" dirty="0" err="1"/>
              <a:t>endpoint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DD58F9CD-3593-4545-B93A-04F19481BD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25</a:t>
            </a:fld>
            <a:endParaRPr lang="nl-NL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4F8E4D53-35C3-4C00-BD71-1F8FF8C158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2561716"/>
            <a:ext cx="12192000" cy="4296283"/>
          </a:xfrm>
        </p:spPr>
        <p:txBody>
          <a:bodyPr>
            <a:normAutofit/>
          </a:bodyPr>
          <a:lstStyle/>
          <a:p>
            <a:r>
              <a:rPr lang="nl-NL" dirty="0" err="1"/>
              <a:t>function</a:t>
            </a:r>
            <a:r>
              <a:rPr lang="nl-NL" dirty="0"/>
              <a:t> </a:t>
            </a:r>
            <a:r>
              <a:rPr lang="nl-NL" dirty="0" err="1"/>
              <a:t>getItems</a:t>
            </a:r>
            <a:r>
              <a:rPr lang="nl-NL" dirty="0"/>
              <a:t>(filter) { // GET /items</a:t>
            </a:r>
            <a:br>
              <a:rPr lang="nl-NL" dirty="0"/>
            </a:br>
            <a:r>
              <a:rPr lang="nl-NL" dirty="0"/>
              <a:t>    </a:t>
            </a:r>
            <a:r>
              <a:rPr lang="nl-NL" dirty="0" err="1"/>
              <a:t>if</a:t>
            </a:r>
            <a:r>
              <a:rPr lang="nl-NL" dirty="0"/>
              <a:t>(!</a:t>
            </a:r>
            <a:r>
              <a:rPr lang="nl-NL" dirty="0" err="1"/>
              <a:t>filter.foo.isString</a:t>
            </a:r>
            <a:r>
              <a:rPr lang="nl-NL" dirty="0"/>
              <a:t>()) return error(…);</a:t>
            </a:r>
            <a:br>
              <a:rPr lang="nl-NL" dirty="0"/>
            </a:br>
            <a:r>
              <a:rPr lang="nl-NL" dirty="0"/>
              <a:t>    </a:t>
            </a:r>
            <a:r>
              <a:rPr lang="nl-NL" dirty="0" err="1"/>
              <a:t>if</a:t>
            </a:r>
            <a:r>
              <a:rPr lang="nl-NL" dirty="0"/>
              <a:t>(</a:t>
            </a:r>
            <a:r>
              <a:rPr lang="nl-NL" dirty="0" err="1"/>
              <a:t>filter.limit</a:t>
            </a:r>
            <a:r>
              <a:rPr lang="nl-NL" dirty="0"/>
              <a:t> &gt; 100) return error(…);</a:t>
            </a:r>
          </a:p>
          <a:p>
            <a:r>
              <a:rPr lang="nl-NL" dirty="0"/>
              <a:t>    </a:t>
            </a:r>
            <a:r>
              <a:rPr lang="nl-NL" dirty="0" err="1"/>
              <a:t>db</a:t>
            </a:r>
            <a:r>
              <a:rPr lang="nl-NL" dirty="0"/>
              <a:t> = </a:t>
            </a:r>
            <a:r>
              <a:rPr lang="nl-NL" dirty="0" err="1"/>
              <a:t>connectToDb</a:t>
            </a:r>
            <a:r>
              <a:rPr lang="nl-NL" dirty="0"/>
              <a:t>();</a:t>
            </a:r>
            <a:br>
              <a:rPr lang="nl-NL" dirty="0"/>
            </a:br>
            <a:r>
              <a:rPr lang="nl-NL" dirty="0"/>
              <a:t>    items = </a:t>
            </a:r>
            <a:r>
              <a:rPr lang="nl-NL" dirty="0" err="1"/>
              <a:t>db.items.filter</a:t>
            </a:r>
            <a:r>
              <a:rPr lang="nl-NL" dirty="0"/>
              <a:t>(</a:t>
            </a:r>
            <a:r>
              <a:rPr lang="nl-NL" dirty="0" err="1"/>
              <a:t>foo</a:t>
            </a:r>
            <a:r>
              <a:rPr lang="nl-NL" dirty="0"/>
              <a:t> == </a:t>
            </a:r>
            <a:r>
              <a:rPr lang="nl-NL" dirty="0" err="1"/>
              <a:t>filter.foo</a:t>
            </a:r>
            <a:r>
              <a:rPr lang="nl-NL" dirty="0"/>
              <a:t>)</a:t>
            </a:r>
            <a:br>
              <a:rPr lang="nl-NL" dirty="0"/>
            </a:br>
            <a:r>
              <a:rPr lang="nl-NL" dirty="0"/>
              <a:t>              .order(</a:t>
            </a:r>
            <a:r>
              <a:rPr lang="nl-NL" dirty="0" err="1"/>
              <a:t>asc</a:t>
            </a:r>
            <a:r>
              <a:rPr lang="nl-NL" dirty="0"/>
              <a:t>).limit(</a:t>
            </a:r>
            <a:r>
              <a:rPr lang="nl-NL" dirty="0" err="1"/>
              <a:t>filter.limit</a:t>
            </a:r>
            <a:r>
              <a:rPr lang="nl-NL" dirty="0"/>
              <a:t>);</a:t>
            </a:r>
          </a:p>
          <a:p>
            <a:r>
              <a:rPr lang="nl-NL" dirty="0"/>
              <a:t>    </a:t>
            </a:r>
            <a:r>
              <a:rPr lang="nl-NL" dirty="0" err="1"/>
              <a:t>result</a:t>
            </a:r>
            <a:r>
              <a:rPr lang="nl-NL" dirty="0"/>
              <a:t> = </a:t>
            </a:r>
            <a:r>
              <a:rPr lang="nl-NL" dirty="0" err="1"/>
              <a:t>items.map</a:t>
            </a:r>
            <a:r>
              <a:rPr lang="nl-NL" dirty="0"/>
              <a:t>(item =&gt; item.pw = </a:t>
            </a:r>
            <a:r>
              <a:rPr lang="nl-NL" dirty="0" err="1"/>
              <a:t>null</a:t>
            </a:r>
            <a:r>
              <a:rPr lang="nl-NL" dirty="0"/>
              <a:t>);</a:t>
            </a:r>
            <a:br>
              <a:rPr lang="nl-NL" dirty="0"/>
            </a:br>
            <a:r>
              <a:rPr lang="nl-NL" dirty="0"/>
              <a:t>    view = </a:t>
            </a:r>
            <a:r>
              <a:rPr lang="nl-NL" dirty="0" err="1"/>
              <a:t>findView</a:t>
            </a:r>
            <a:r>
              <a:rPr lang="nl-NL" dirty="0"/>
              <a:t>(“</a:t>
            </a:r>
            <a:r>
              <a:rPr lang="nl-NL" dirty="0" err="1"/>
              <a:t>filteredItems</a:t>
            </a:r>
            <a:r>
              <a:rPr lang="nl-NL" dirty="0"/>
              <a:t>”);</a:t>
            </a:r>
            <a:br>
              <a:rPr lang="nl-NL" dirty="0"/>
            </a:br>
            <a:r>
              <a:rPr lang="nl-NL" dirty="0"/>
              <a:t>    return </a:t>
            </a:r>
            <a:r>
              <a:rPr lang="nl-NL" dirty="0" err="1"/>
              <a:t>view.apply</a:t>
            </a:r>
            <a:r>
              <a:rPr lang="nl-NL" dirty="0"/>
              <a:t>(</a:t>
            </a:r>
            <a:r>
              <a:rPr lang="nl-NL" dirty="0" err="1"/>
              <a:t>result</a:t>
            </a:r>
            <a:r>
              <a:rPr lang="nl-NL" dirty="0"/>
              <a:t>);</a:t>
            </a:r>
            <a:br>
              <a:rPr lang="nl-NL" dirty="0"/>
            </a:br>
            <a:r>
              <a:rPr lang="nl-NL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48064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0.00093 L -3.95833E-6 -0.27153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63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 0.35556 " pathEditMode="fixed" rAng="0" ptsTypes="AA">
                                      <p:cBhvr>
                                        <p:cTn id="12" dur="500" spd="-100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778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 0.35556 " pathEditMode="fixed" rAng="0" ptsTypes="AA">
                                      <p:cBhvr>
                                        <p:cTn id="18" dur="500" spd="-100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778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 0.35556 " pathEditMode="fixed" rAng="0" ptsTypes="AA">
                                      <p:cBhvr>
                                        <p:cTn id="24" dur="500" spd="-100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778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38 -3.33333E-6 L 0.00638 0.35556 " pathEditMode="fixed" rAng="0" ptsTypes="AA">
                                      <p:cBhvr>
                                        <p:cTn id="30" dur="500" spd="-100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3" presetClass="emph" presetSubtype="2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mph" presetSubtype="2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" presetID="3" presetClass="emph" presetSubtype="2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99694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mph" presetSubtype="2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" presetID="3" presetClass="emph" presetSubtype="2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99694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mph" presetSubtype="2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99694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 animBg="1"/>
      <p:bldP spid="6" grpId="1" uiExpand="1" build="p" animBg="1"/>
      <p:bldP spid="6" grpId="2" uiExpand="1" build="p"/>
      <p:bldP spid="6" grpId="3" uiExpand="1" build="p"/>
      <p:bldP spid="6" grpId="4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2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7BD996-913D-43E9-ABB1-7A070E751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Approach #2: </a:t>
            </a:r>
            <a:r>
              <a:rPr lang="nl-NL" dirty="0" err="1"/>
              <a:t>Isolation</a:t>
            </a:r>
            <a:r>
              <a:rPr lang="nl-NL" dirty="0"/>
              <a:t> of Model and View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66C9F2D-E00B-48C4-B8D5-D86ACDA5E8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26</a:t>
            </a:fld>
            <a:endParaRPr lang="nl-NL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CB1D571F-9664-4E8C-B2CC-B68E437624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1144744"/>
            <a:ext cx="12192000" cy="5713255"/>
          </a:xfrm>
        </p:spPr>
        <p:txBody>
          <a:bodyPr>
            <a:normAutofit lnSpcReduction="10000"/>
          </a:bodyPr>
          <a:lstStyle/>
          <a:p>
            <a:r>
              <a:rPr lang="nl-NL" dirty="0" err="1">
                <a:solidFill>
                  <a:schemeClr val="bg1">
                    <a:lumMod val="65000"/>
                  </a:schemeClr>
                </a:solidFill>
              </a:rPr>
              <a:t>function</a:t>
            </a:r>
            <a:r>
              <a:rPr lang="nl-NL" dirty="0"/>
              <a:t> </a:t>
            </a:r>
            <a:r>
              <a:rPr lang="nl-NL" dirty="0" err="1"/>
              <a:t>ItemRepository.Filter</a:t>
            </a:r>
            <a:r>
              <a:rPr lang="nl-NL" dirty="0"/>
              <a:t>(filter) </a:t>
            </a: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{ // class</a:t>
            </a:r>
            <a:br>
              <a:rPr lang="nl-NL" dirty="0"/>
            </a:br>
            <a:r>
              <a:rPr lang="nl-NL" dirty="0"/>
              <a:t>    </a:t>
            </a:r>
            <a:r>
              <a:rPr lang="nl-NL" dirty="0" err="1">
                <a:solidFill>
                  <a:schemeClr val="bg1">
                    <a:lumMod val="65000"/>
                  </a:schemeClr>
                </a:solidFill>
              </a:rPr>
              <a:t>db</a:t>
            </a: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 = </a:t>
            </a:r>
            <a:r>
              <a:rPr lang="nl-NL" dirty="0" err="1">
                <a:solidFill>
                  <a:schemeClr val="bg1">
                    <a:lumMod val="65000"/>
                  </a:schemeClr>
                </a:solidFill>
              </a:rPr>
              <a:t>connectToDb</a:t>
            </a: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();</a:t>
            </a:r>
            <a:br>
              <a:rPr lang="nl-NL" dirty="0"/>
            </a:br>
            <a:r>
              <a:rPr lang="nl-NL" dirty="0"/>
              <a:t>    return </a:t>
            </a:r>
            <a:r>
              <a:rPr lang="nl-NL" dirty="0" err="1">
                <a:solidFill>
                  <a:schemeClr val="bg1">
                    <a:lumMod val="65000"/>
                  </a:schemeClr>
                </a:solidFill>
              </a:rPr>
              <a:t>db.items.filter</a:t>
            </a: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nl-NL" dirty="0" err="1">
                <a:solidFill>
                  <a:schemeClr val="bg1">
                    <a:lumMod val="65000"/>
                  </a:schemeClr>
                </a:solidFill>
              </a:rPr>
              <a:t>foo</a:t>
            </a: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 == </a:t>
            </a:r>
            <a:r>
              <a:rPr lang="nl-NL" dirty="0" err="1">
                <a:solidFill>
                  <a:schemeClr val="bg1">
                    <a:lumMod val="65000"/>
                  </a:schemeClr>
                </a:solidFill>
              </a:rPr>
              <a:t>filter.foo</a:t>
            </a: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)</a:t>
            </a:r>
            <a:br>
              <a:rPr lang="nl-NL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             .order(</a:t>
            </a:r>
            <a:r>
              <a:rPr lang="nl-NL" dirty="0" err="1">
                <a:solidFill>
                  <a:schemeClr val="bg1">
                    <a:lumMod val="65000"/>
                  </a:schemeClr>
                </a:solidFill>
              </a:rPr>
              <a:t>asc</a:t>
            </a: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).limit(</a:t>
            </a:r>
            <a:r>
              <a:rPr lang="nl-NL" dirty="0" err="1">
                <a:solidFill>
                  <a:schemeClr val="bg1">
                    <a:lumMod val="65000"/>
                  </a:schemeClr>
                </a:solidFill>
              </a:rPr>
              <a:t>filter.limit</a:t>
            </a: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);</a:t>
            </a:r>
            <a:br>
              <a:rPr lang="nl-NL" dirty="0"/>
            </a:b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r>
              <a:rPr lang="nl-NL" dirty="0" err="1">
                <a:solidFill>
                  <a:schemeClr val="bg1">
                    <a:lumMod val="65000"/>
                  </a:schemeClr>
                </a:solidFill>
              </a:rPr>
              <a:t>function</a:t>
            </a: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nl-NL" dirty="0" err="1"/>
              <a:t>ItemView.FromModel</a:t>
            </a:r>
            <a:r>
              <a:rPr lang="nl-NL" dirty="0"/>
              <a:t>(item) </a:t>
            </a: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{</a:t>
            </a:r>
            <a:br>
              <a:rPr lang="nl-NL" dirty="0"/>
            </a:br>
            <a:r>
              <a:rPr lang="nl-NL" dirty="0"/>
              <a:t>    return new </a:t>
            </a:r>
            <a:r>
              <a:rPr lang="nl-NL" dirty="0" err="1"/>
              <a:t>ItemView</a:t>
            </a:r>
            <a:r>
              <a:rPr lang="nl-NL" dirty="0"/>
              <a:t> { </a:t>
            </a:r>
            <a:r>
              <a:rPr lang="nl-NL" dirty="0" err="1"/>
              <a:t>foo</a:t>
            </a:r>
            <a:r>
              <a:rPr lang="nl-NL" dirty="0"/>
              <a:t> = </a:t>
            </a:r>
            <a:r>
              <a:rPr lang="nl-NL" dirty="0" err="1"/>
              <a:t>item.foo</a:t>
            </a:r>
            <a:r>
              <a:rPr lang="nl-NL" dirty="0"/>
              <a:t> };</a:t>
            </a:r>
            <a:br>
              <a:rPr lang="nl-NL" dirty="0"/>
            </a:b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r>
              <a:rPr lang="nl-NL" dirty="0" err="1">
                <a:solidFill>
                  <a:schemeClr val="bg1">
                    <a:lumMod val="65000"/>
                  </a:schemeClr>
                </a:solidFill>
              </a:rPr>
              <a:t>function</a:t>
            </a: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nl-NL" dirty="0" err="1">
                <a:solidFill>
                  <a:schemeClr val="bg1">
                    <a:lumMod val="65000"/>
                  </a:schemeClr>
                </a:solidFill>
              </a:rPr>
              <a:t>getItems</a:t>
            </a: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(filter) { // GET /items</a:t>
            </a:r>
            <a:br>
              <a:rPr lang="nl-NL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    </a:t>
            </a:r>
            <a:r>
              <a:rPr lang="nl-NL" dirty="0" err="1">
                <a:solidFill>
                  <a:schemeClr val="bg1">
                    <a:lumMod val="65000"/>
                  </a:schemeClr>
                </a:solidFill>
              </a:rPr>
              <a:t>if</a:t>
            </a: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nl-NL" dirty="0" err="1">
                <a:solidFill>
                  <a:schemeClr val="bg1">
                    <a:lumMod val="65000"/>
                  </a:schemeClr>
                </a:solidFill>
              </a:rPr>
              <a:t>filter.foo.isString</a:t>
            </a: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()) return error(…);</a:t>
            </a:r>
            <a:br>
              <a:rPr lang="nl-NL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    </a:t>
            </a:r>
            <a:r>
              <a:rPr lang="nl-NL" dirty="0" err="1">
                <a:solidFill>
                  <a:schemeClr val="bg1">
                    <a:lumMod val="65000"/>
                  </a:schemeClr>
                </a:solidFill>
              </a:rPr>
              <a:t>if</a:t>
            </a: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nl-NL" dirty="0" err="1">
                <a:solidFill>
                  <a:schemeClr val="bg1">
                    <a:lumMod val="65000"/>
                  </a:schemeClr>
                </a:solidFill>
              </a:rPr>
              <a:t>filter.limit</a:t>
            </a: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 &gt; 100) return error(…);</a:t>
            </a:r>
          </a:p>
          <a:p>
            <a:r>
              <a:rPr lang="nl-NL" dirty="0"/>
              <a:t>    </a:t>
            </a:r>
            <a:r>
              <a:rPr lang="nl-NL" dirty="0" err="1"/>
              <a:t>result</a:t>
            </a:r>
            <a:r>
              <a:rPr lang="nl-NL" dirty="0"/>
              <a:t> = </a:t>
            </a:r>
            <a:r>
              <a:rPr lang="nl-NL" dirty="0" err="1"/>
              <a:t>repo.Filter</a:t>
            </a:r>
            <a:r>
              <a:rPr lang="nl-NL" dirty="0"/>
              <a:t>(filter)</a:t>
            </a:r>
            <a:br>
              <a:rPr lang="nl-NL" dirty="0"/>
            </a:br>
            <a:r>
              <a:rPr lang="nl-NL" dirty="0"/>
              <a:t>                 .map(item =&gt; </a:t>
            </a:r>
            <a:r>
              <a:rPr lang="nl-NL" dirty="0" err="1"/>
              <a:t>ItemView.FromModel</a:t>
            </a:r>
            <a:r>
              <a:rPr lang="nl-NL" dirty="0"/>
              <a:t>(item));</a:t>
            </a:r>
          </a:p>
          <a:p>
            <a:r>
              <a:rPr lang="nl-NL" dirty="0"/>
              <a:t>    </a:t>
            </a: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view = </a:t>
            </a:r>
            <a:r>
              <a:rPr lang="nl-NL" dirty="0" err="1">
                <a:solidFill>
                  <a:schemeClr val="bg1">
                    <a:lumMod val="65000"/>
                  </a:schemeClr>
                </a:solidFill>
              </a:rPr>
              <a:t>findView</a:t>
            </a: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(“</a:t>
            </a:r>
            <a:r>
              <a:rPr lang="nl-NL" dirty="0" err="1">
                <a:solidFill>
                  <a:schemeClr val="bg1">
                    <a:lumMod val="65000"/>
                  </a:schemeClr>
                </a:solidFill>
              </a:rPr>
              <a:t>filteredItems</a:t>
            </a: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”);</a:t>
            </a:r>
            <a:br>
              <a:rPr lang="nl-NL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    return </a:t>
            </a:r>
            <a:r>
              <a:rPr lang="nl-NL" dirty="0" err="1">
                <a:solidFill>
                  <a:schemeClr val="bg1">
                    <a:lumMod val="65000"/>
                  </a:schemeClr>
                </a:solidFill>
              </a:rPr>
              <a:t>view.apply</a:t>
            </a: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nl-NL" dirty="0" err="1">
                <a:solidFill>
                  <a:schemeClr val="bg1">
                    <a:lumMod val="65000"/>
                  </a:schemeClr>
                </a:solidFill>
              </a:rPr>
              <a:t>result</a:t>
            </a: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);</a:t>
            </a:r>
            <a:br>
              <a:rPr lang="nl-NL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6611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7.40741E-7 L -3.95833E-6 -0.39861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93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 0.35556 " pathEditMode="fixed" rAng="0" ptsTypes="AA">
                                      <p:cBhvr>
                                        <p:cTn id="12" dur="500" spd="-100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778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 0.35556 " pathEditMode="fixed" rAng="0" ptsTypes="AA">
                                      <p:cBhvr>
                                        <p:cTn id="18" dur="500" spd="-100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 0.35556 " pathEditMode="fixed" rAng="0" ptsTypes="AA">
                                      <p:cBhvr>
                                        <p:cTn id="26" dur="500" spd="-100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 0.35556 " pathEditMode="fixed" rAng="0" ptsTypes="AA">
                                      <p:cBhvr>
                                        <p:cTn id="34" dur="500" spd="-100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778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 0.35556 " pathEditMode="fixed" rAng="0" ptsTypes="AA">
                                      <p:cBhvr>
                                        <p:cTn id="40" dur="500" spd="-100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778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 0.35556 " pathEditMode="fixed" rAng="0" ptsTypes="AA">
                                      <p:cBhvr>
                                        <p:cTn id="46" dur="500" spd="-100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uiExpand="1" build="p" animBg="1"/>
      <p:bldP spid="5" grpId="1" uiExpand="1" build="p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2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888B1E-689D-4AA8-94C0-F62C1BE12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Approach #3: Input </a:t>
            </a:r>
            <a:r>
              <a:rPr lang="nl-NL" dirty="0" err="1"/>
              <a:t>Validation</a:t>
            </a:r>
            <a:r>
              <a:rPr lang="nl-NL" dirty="0"/>
              <a:t> and More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29DF69E8-17E3-4B39-AEB5-652DFC9A2B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27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ABAEF68-FC4F-4871-AB22-BED11AB947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 err="1"/>
              <a:t>Depending</a:t>
            </a:r>
            <a:r>
              <a:rPr lang="nl-NL" dirty="0"/>
              <a:t> on framework, </a:t>
            </a:r>
            <a:r>
              <a:rPr lang="nl-NL" dirty="0" err="1"/>
              <a:t>define</a:t>
            </a:r>
            <a:r>
              <a:rPr lang="nl-NL" dirty="0"/>
              <a:t> input </a:t>
            </a:r>
            <a:r>
              <a:rPr lang="nl-NL" dirty="0" err="1"/>
              <a:t>validation</a:t>
            </a:r>
            <a:r>
              <a:rPr lang="nl-NL" dirty="0"/>
              <a:t> in a </a:t>
            </a:r>
            <a:r>
              <a:rPr lang="nl-NL" dirty="0" err="1"/>
              <a:t>central</a:t>
            </a:r>
            <a:r>
              <a:rPr lang="nl-NL" dirty="0"/>
              <a:t> </a:t>
            </a:r>
            <a:r>
              <a:rPr lang="nl-NL" dirty="0" err="1"/>
              <a:t>place</a:t>
            </a:r>
            <a:r>
              <a:rPr lang="nl-NL" dirty="0"/>
              <a:t> to </a:t>
            </a:r>
            <a:r>
              <a:rPr lang="nl-NL" dirty="0" err="1"/>
              <a:t>allow</a:t>
            </a:r>
            <a:r>
              <a:rPr lang="nl-NL" dirty="0"/>
              <a:t> re-</a:t>
            </a:r>
            <a:r>
              <a:rPr lang="nl-NL" dirty="0" err="1"/>
              <a:t>use</a:t>
            </a:r>
            <a:r>
              <a:rPr lang="nl-NL" dirty="0"/>
              <a:t> (</a:t>
            </a:r>
            <a:r>
              <a:rPr lang="nl-NL" dirty="0" err="1"/>
              <a:t>examples</a:t>
            </a:r>
            <a:r>
              <a:rPr lang="nl-NL" dirty="0"/>
              <a:t> </a:t>
            </a:r>
            <a:r>
              <a:rPr lang="nl-NL" dirty="0" err="1"/>
              <a:t>tomorrow</a:t>
            </a:r>
            <a:r>
              <a:rPr lang="nl-NL" dirty="0"/>
              <a:t>)</a:t>
            </a:r>
          </a:p>
          <a:p>
            <a:r>
              <a:rPr lang="nl-NL" dirty="0"/>
              <a:t>For complex apps: separate DB data model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application</a:t>
            </a:r>
            <a:r>
              <a:rPr lang="nl-NL" dirty="0"/>
              <a:t> data model </a:t>
            </a:r>
          </a:p>
        </p:txBody>
      </p:sp>
    </p:spTree>
    <p:extLst>
      <p:ext uri="{BB962C8B-B14F-4D97-AF65-F5344CB8AC3E}">
        <p14:creationId xmlns:p14="http://schemas.microsoft.com/office/powerpoint/2010/main" val="1606266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2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10C4EB99-D3C4-467D-80C7-71355E285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Bonus: </a:t>
            </a:r>
            <a:r>
              <a:rPr lang="nl-NL" dirty="0" err="1"/>
              <a:t>Dependency</a:t>
            </a:r>
            <a:r>
              <a:rPr lang="nl-NL" dirty="0"/>
              <a:t> </a:t>
            </a:r>
            <a:r>
              <a:rPr lang="nl-NL" dirty="0" err="1"/>
              <a:t>Injection</a:t>
            </a:r>
            <a:r>
              <a:rPr lang="nl-NL" dirty="0"/>
              <a:t> &amp; </a:t>
            </a:r>
            <a:r>
              <a:rPr lang="nl-NL" dirty="0" err="1"/>
              <a:t>Inversion</a:t>
            </a:r>
            <a:r>
              <a:rPr lang="nl-NL" dirty="0"/>
              <a:t> of Control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E3B45DD-49DE-4C26-9617-48B6FF72DB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28</a:t>
            </a:fld>
            <a:endParaRPr lang="nl-NL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A0BB6A76-DB77-4015-BB4D-34C6DE0280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 err="1"/>
              <a:t>Decrease</a:t>
            </a:r>
            <a:r>
              <a:rPr lang="nl-NL" dirty="0"/>
              <a:t> </a:t>
            </a:r>
            <a:r>
              <a:rPr lang="nl-NL" dirty="0" err="1"/>
              <a:t>coupling</a:t>
            </a:r>
            <a:endParaRPr lang="nl-NL" dirty="0"/>
          </a:p>
          <a:p>
            <a:r>
              <a:rPr lang="nl-NL" dirty="0" err="1"/>
              <a:t>Easier</a:t>
            </a:r>
            <a:r>
              <a:rPr lang="nl-NL" dirty="0"/>
              <a:t> </a:t>
            </a:r>
            <a:r>
              <a:rPr lang="nl-NL" dirty="0" err="1"/>
              <a:t>testing</a:t>
            </a:r>
            <a:endParaRPr lang="nl-NL" dirty="0"/>
          </a:p>
          <a:p>
            <a:r>
              <a:rPr lang="nl-NL" dirty="0"/>
              <a:t>Let the framework </a:t>
            </a:r>
            <a:r>
              <a:rPr lang="nl-NL" dirty="0" err="1"/>
              <a:t>decide</a:t>
            </a:r>
            <a:r>
              <a:rPr lang="nl-NL" dirty="0"/>
              <a:t> on </a:t>
            </a:r>
            <a:r>
              <a:rPr lang="nl-NL" dirty="0" err="1"/>
              <a:t>runtime</a:t>
            </a:r>
            <a:r>
              <a:rPr lang="nl-NL" dirty="0"/>
              <a:t> – </a:t>
            </a:r>
            <a:r>
              <a:rPr lang="nl-NL" dirty="0" err="1"/>
              <a:t>great</a:t>
            </a:r>
            <a:r>
              <a:rPr lang="nl-NL" dirty="0"/>
              <a:t> for </a:t>
            </a:r>
            <a:r>
              <a:rPr lang="nl-NL" dirty="0" err="1"/>
              <a:t>configuration</a:t>
            </a:r>
            <a:endParaRPr lang="nl-NL" dirty="0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A5861127-B42F-44B8-95B7-68523819C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3217850"/>
            <a:ext cx="12192000" cy="3640149"/>
          </a:xfrm>
        </p:spPr>
        <p:txBody>
          <a:bodyPr>
            <a:normAutofit fontScale="92500"/>
          </a:bodyPr>
          <a:lstStyle/>
          <a:p>
            <a:r>
              <a:rPr lang="nl-NL" dirty="0"/>
              <a:t>	</a:t>
            </a:r>
            <a:r>
              <a:rPr lang="nl-NL" sz="1200" dirty="0" err="1"/>
              <a:t>Before</a:t>
            </a:r>
            <a:r>
              <a:rPr lang="nl-NL" dirty="0"/>
              <a:t>	</a:t>
            </a: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class </a:t>
            </a:r>
            <a:r>
              <a:rPr lang="nl-NL" dirty="0" err="1">
                <a:solidFill>
                  <a:schemeClr val="bg1">
                    <a:lumMod val="65000"/>
                  </a:schemeClr>
                </a:solidFill>
              </a:rPr>
              <a:t>Repository</a:t>
            </a: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 {</a:t>
            </a:r>
            <a:br>
              <a:rPr lang="nl-NL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nl-NL" dirty="0"/>
              <a:t>    </a:t>
            </a:r>
            <a:r>
              <a:rPr lang="nl-NL" dirty="0" err="1"/>
              <a:t>function</a:t>
            </a:r>
            <a:r>
              <a:rPr lang="nl-NL" dirty="0"/>
              <a:t> </a:t>
            </a:r>
            <a:r>
              <a:rPr lang="nl-NL" dirty="0" err="1"/>
              <a:t>getItems</a:t>
            </a:r>
            <a:r>
              <a:rPr lang="nl-NL" dirty="0"/>
              <a:t>() {</a:t>
            </a:r>
            <a:br>
              <a:rPr lang="nl-NL" dirty="0"/>
            </a:br>
            <a:r>
              <a:rPr lang="nl-NL" dirty="0"/>
              <a:t>        </a:t>
            </a:r>
            <a:r>
              <a:rPr lang="nl-NL" dirty="0" err="1"/>
              <a:t>db</a:t>
            </a:r>
            <a:r>
              <a:rPr lang="nl-NL" dirty="0"/>
              <a:t> = </a:t>
            </a:r>
            <a:r>
              <a:rPr lang="nl-NL" dirty="0" err="1"/>
              <a:t>connectToDb</a:t>
            </a:r>
            <a:r>
              <a:rPr lang="nl-NL" dirty="0"/>
              <a:t>();</a:t>
            </a:r>
            <a:br>
              <a:rPr lang="nl-NL" dirty="0"/>
            </a:br>
            <a:r>
              <a:rPr lang="nl-NL" dirty="0"/>
              <a:t>    }</a:t>
            </a:r>
            <a:br>
              <a:rPr lang="nl-NL" dirty="0"/>
            </a:b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r>
              <a:rPr lang="nl-NL" dirty="0"/>
              <a:t>	</a:t>
            </a:r>
            <a:r>
              <a:rPr lang="nl-NL" sz="1200" dirty="0" err="1"/>
              <a:t>After</a:t>
            </a:r>
            <a:r>
              <a:rPr lang="nl-NL" dirty="0"/>
              <a:t>	</a:t>
            </a: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class </a:t>
            </a:r>
            <a:r>
              <a:rPr lang="nl-NL" dirty="0" err="1">
                <a:solidFill>
                  <a:schemeClr val="bg1">
                    <a:lumMod val="65000"/>
                  </a:schemeClr>
                </a:solidFill>
              </a:rPr>
              <a:t>Repository</a:t>
            </a: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 {</a:t>
            </a:r>
            <a:br>
              <a:rPr lang="nl-NL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nl-NL" dirty="0"/>
              <a:t>    </a:t>
            </a:r>
            <a:r>
              <a:rPr lang="nl-NL" dirty="0" err="1"/>
              <a:t>function</a:t>
            </a:r>
            <a:r>
              <a:rPr lang="nl-NL" dirty="0"/>
              <a:t> </a:t>
            </a:r>
            <a:r>
              <a:rPr lang="nl-NL" dirty="0" err="1"/>
              <a:t>Repository</a:t>
            </a:r>
            <a:r>
              <a:rPr lang="nl-NL" dirty="0"/>
              <a:t>(</a:t>
            </a:r>
            <a:r>
              <a:rPr lang="nl-NL" dirty="0" err="1"/>
              <a:t>DbInstance</a:t>
            </a:r>
            <a:r>
              <a:rPr lang="nl-NL" dirty="0"/>
              <a:t> </a:t>
            </a:r>
            <a:r>
              <a:rPr lang="nl-NL" dirty="0" err="1"/>
              <a:t>db</a:t>
            </a:r>
            <a:r>
              <a:rPr lang="nl-NL" dirty="0"/>
              <a:t>) { } // </a:t>
            </a:r>
            <a:r>
              <a:rPr lang="nl-NL" dirty="0" err="1"/>
              <a:t>constructor</a:t>
            </a:r>
            <a:br>
              <a:rPr lang="nl-NL" dirty="0"/>
            </a:br>
            <a:r>
              <a:rPr lang="nl-NL" dirty="0"/>
              <a:t>    </a:t>
            </a:r>
            <a:r>
              <a:rPr lang="nl-NL" dirty="0" err="1"/>
              <a:t>function</a:t>
            </a:r>
            <a:r>
              <a:rPr lang="nl-NL" dirty="0"/>
              <a:t> </a:t>
            </a:r>
            <a:r>
              <a:rPr lang="nl-NL" dirty="0" err="1"/>
              <a:t>getItems</a:t>
            </a:r>
            <a:r>
              <a:rPr lang="nl-NL" dirty="0"/>
              <a:t>() {</a:t>
            </a:r>
            <a:br>
              <a:rPr lang="nl-NL" dirty="0"/>
            </a:br>
            <a:r>
              <a:rPr lang="nl-NL" dirty="0"/>
              <a:t>        …</a:t>
            </a:r>
            <a:br>
              <a:rPr lang="nl-NL" dirty="0"/>
            </a:br>
            <a:r>
              <a:rPr lang="nl-NL" dirty="0"/>
              <a:t>    }</a:t>
            </a:r>
            <a:br>
              <a:rPr lang="nl-NL" dirty="0"/>
            </a:b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96566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7.40741E-7 L -3.95833E-6 -0.31736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588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4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6227 L -0.00052 -0.18055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33333E-6 L 0 0.35555 " pathEditMode="fixed" rAng="0" ptsTypes="AA">
                                      <p:cBhvr>
                                        <p:cTn id="20" dur="50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6" grpId="1"/>
      <p:bldP spid="8" grpId="0" animBg="1"/>
      <p:bldP spid="8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96B904-FDD8-44D9-AF84-E63AADAAC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Tomorrow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08F0E234-CC7C-4287-BA55-49F11032B5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29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626DFBA-20EC-4056-88D5-51BE66C2DE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example</a:t>
            </a:r>
            <a:r>
              <a:rPr lang="nl-NL" dirty="0"/>
              <a:t> </a:t>
            </a:r>
            <a:r>
              <a:rPr lang="nl-NL" dirty="0" err="1"/>
              <a:t>back-end</a:t>
            </a:r>
            <a:r>
              <a:rPr lang="nl-NL" dirty="0"/>
              <a:t> </a:t>
            </a:r>
            <a:r>
              <a:rPr lang="nl-NL" dirty="0" err="1"/>
              <a:t>implementations</a:t>
            </a:r>
            <a:endParaRPr lang="nl-NL" dirty="0"/>
          </a:p>
          <a:p>
            <a:r>
              <a:rPr lang="nl-NL" dirty="0"/>
              <a:t>C#: ASP.NET</a:t>
            </a:r>
          </a:p>
          <a:p>
            <a:r>
              <a:rPr lang="nl-NL" dirty="0"/>
              <a:t>JS: </a:t>
            </a:r>
            <a:r>
              <a:rPr lang="nl-NL" dirty="0" err="1"/>
              <a:t>ExpressJS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38198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8491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efault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Thema">
      <a:majorFont>
        <a:latin typeface="Segoe UI Light"/>
        <a:ea typeface=""/>
        <a:cs typeface=""/>
      </a:majorFont>
      <a:minorFont>
        <a:latin typeface="Segoe UI Semilight"/>
        <a:ea typeface=""/>
        <a:cs typeface=""/>
      </a:minorFont>
    </a:fontScheme>
    <a:fmtScheme name="Subtiel effen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8D30E7FC-C423-4D2D-BD10-56EFB7EB839D}" vid="{5A2A0BC5-33B8-4A8A-8084-EC20E0739B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2152</TotalTime>
  <Words>1438</Words>
  <Application>Microsoft Office PowerPoint</Application>
  <PresentationFormat>Breedbeeld</PresentationFormat>
  <Paragraphs>309</Paragraphs>
  <Slides>31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31</vt:i4>
      </vt:variant>
    </vt:vector>
  </HeadingPairs>
  <TitlesOfParts>
    <vt:vector size="36" baseType="lpstr">
      <vt:lpstr>Arial</vt:lpstr>
      <vt:lpstr>Cascadia Code</vt:lpstr>
      <vt:lpstr>Segoe UI Light</vt:lpstr>
      <vt:lpstr>Segoe UI Semilight</vt:lpstr>
      <vt:lpstr>Default Theme</vt:lpstr>
      <vt:lpstr>PowerPoint-presentatie</vt:lpstr>
      <vt:lpstr>Backend Architecture</vt:lpstr>
      <vt:lpstr>Outline</vt:lpstr>
      <vt:lpstr>Database Design</vt:lpstr>
      <vt:lpstr>Movies Database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Object-Relational Mapping</vt:lpstr>
      <vt:lpstr>ORM Tasks</vt:lpstr>
      <vt:lpstr>Bonus: ORM Performance</vt:lpstr>
      <vt:lpstr>Backend Frameworks</vt:lpstr>
      <vt:lpstr>Framework offer</vt:lpstr>
      <vt:lpstr>Framework Design</vt:lpstr>
      <vt:lpstr>ExpressJS</vt:lpstr>
      <vt:lpstr>ASPꓸNET</vt:lpstr>
      <vt:lpstr>Routing</vt:lpstr>
      <vt:lpstr>Other Framework Features</vt:lpstr>
      <vt:lpstr>Backend Architecture</vt:lpstr>
      <vt:lpstr>Notice</vt:lpstr>
      <vt:lpstr>Code organisation</vt:lpstr>
      <vt:lpstr>Warnings</vt:lpstr>
      <vt:lpstr>Approach #1: Put it all in the endpoint</vt:lpstr>
      <vt:lpstr>Approach #2: Isolation of Model and View</vt:lpstr>
      <vt:lpstr>Approach #3: Input Validation and More</vt:lpstr>
      <vt:lpstr>Bonus: Dependency Injection &amp; Inversion of Control</vt:lpstr>
      <vt:lpstr>Tomorrow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Floris Westerman</dc:creator>
  <cp:lastModifiedBy>Floris Westerman</cp:lastModifiedBy>
  <cp:revision>72</cp:revision>
  <dcterms:created xsi:type="dcterms:W3CDTF">2021-12-04T16:35:41Z</dcterms:created>
  <dcterms:modified xsi:type="dcterms:W3CDTF">2021-12-07T13:50:26Z</dcterms:modified>
</cp:coreProperties>
</file>